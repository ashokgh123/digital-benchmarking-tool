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D4EEC0-A9F5-4AA3-8044-5267C4472B33}" v="114" dt="2026-03-06T06:43:23.4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26" autoAdjust="0"/>
  </p:normalViewPr>
  <p:slideViewPr>
    <p:cSldViewPr snapToGrid="0">
      <p:cViewPr>
        <p:scale>
          <a:sx n="66" d="100"/>
          <a:sy n="66" d="100"/>
        </p:scale>
        <p:origin x="1325" y="31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4C074-BDB3-40BE-F7E4-95F49E5674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F3CC1D-596A-6284-85A9-BC2E406508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91F12-A54E-FB5F-ED4E-5249B67A8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CC5A1-BDFF-47A0-9AC0-A940BF1F5FE7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233671-1AA6-8A48-C5C4-EE383F2BB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BB8989-0D3F-3957-C047-1731B1F65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A04C4-1180-4D91-B7A8-B7772EEA1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1901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65484-D34B-F804-1CA1-FF7B43112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E77628-D31F-92FB-E0E6-C3B040235A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DF1AEB-3091-F5F6-0CBD-ECC6598B9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CC5A1-BDFF-47A0-9AC0-A940BF1F5FE7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D9455E-992E-3B98-AFD7-8E72A62AB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397D21-124E-893E-7807-1B56B7EB8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A04C4-1180-4D91-B7A8-B7772EEA1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1024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8D2F3-142A-CD43-B4E1-B8A8BFA7F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A56494-99FD-8C4B-9F71-A9AF2F56C4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B19FAA-025E-2A22-CC6A-0545A77FB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CC5A1-BDFF-47A0-9AC0-A940BF1F5FE7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A745BA-7801-21D7-2C24-353822AA3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5BE3F6-158C-4938-1FB8-0B4C1BC9C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A04C4-1180-4D91-B7A8-B7772EEA1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7321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21E40-380E-0056-1F60-F88CC5171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DD355-0172-3D70-8949-2B7D627C86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46AFD0-939B-E9CB-E7BE-25C9D5DC0A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68294C-4088-4438-055D-5E4FC3CCE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CC5A1-BDFF-47A0-9AC0-A940BF1F5FE7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811598-E004-D3D6-1751-13A3C7FD6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86BC5C-8325-C62E-CC09-5CA63E452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A04C4-1180-4D91-B7A8-B7772EEA1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6323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87BBB-BCFF-FC4F-3333-50ECD0362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4D951A-DC58-7F7E-F1EE-74A1958A1F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A5C084-F688-BF68-BABC-A7A4763D13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09C29C-C5B1-68B3-4423-1C3EC624AD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613C29-2F45-A437-F6AA-D52093B53C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8B6E45-0341-25D8-4608-33E995291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CC5A1-BDFF-47A0-9AC0-A940BF1F5FE7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D0C757-5D09-8C47-5CE3-09B255191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99E703-5DD9-94A0-DF53-19107440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A04C4-1180-4D91-B7A8-B7772EEA1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2320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8B1E4-C2BC-C45B-4C4D-98E3C72CE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12F35B-3E1D-2EDA-9E7E-8544F9BB0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CC5A1-BDFF-47A0-9AC0-A940BF1F5FE7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2F801D-1BB2-7DFF-3EF2-9C5A67875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C0C2BF-F273-4BDF-75D1-A2DB02D8B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A04C4-1180-4D91-B7A8-B7772EEA1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4586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C59EDE-B7C5-5A0F-4EC8-994638126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CC5A1-BDFF-47A0-9AC0-A940BF1F5FE7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E31493-E5EF-4188-1BE2-FF16792B9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3EBD98-1B67-41CC-401C-BEC76202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A04C4-1180-4D91-B7A8-B7772EEA1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3053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39124-A3E5-01E3-6706-982C37F00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855D95-6CE9-60E0-D68E-EBD043C6ED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D4B026-EAA8-B973-1F2E-C6625EEA24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37FB6D-A47C-B6CF-4C69-EB1D12A55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CC5A1-BDFF-47A0-9AC0-A940BF1F5FE7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8B142C-5C80-46A9-5386-1F834C02C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C9F663-C349-E9E5-74A1-EBF3D3F3A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A04C4-1180-4D91-B7A8-B7772EEA1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5966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5AA7C-29EF-2C0A-55B7-FFA269D20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E81D3B-9CC5-F1F1-BE9E-1785116290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37CFF2-848E-DF5B-02EC-0F070F5422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333CF3-4FF4-E255-8404-C54007A44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CC5A1-BDFF-47A0-9AC0-A940BF1F5FE7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0D2F53-189C-091A-D31F-474A443CB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A422D2-0EBD-350C-7879-C3CAE5393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A04C4-1180-4D91-B7A8-B7772EEA1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3996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FD931-562C-35E8-2586-02A1DA15A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C6B926-44AE-4243-F04E-C78F08E720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C8A740-494B-75DB-A3DB-7DE87C2F3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CC5A1-BDFF-47A0-9AC0-A940BF1F5FE7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BA996E-D7CB-1C0D-8AB5-B62EF0C3A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FF6232-8913-600B-9890-0B46A7C62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A04C4-1180-4D91-B7A8-B7772EEA1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0542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06711D-02F0-E493-0F15-0F5DE773BF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6F8AA6-2717-C9EE-4AF9-4F09640C40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E2C5A6-F6CF-920B-5E75-2E82A6E14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CC5A1-BDFF-47A0-9AC0-A940BF1F5FE7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413634-F4B1-D8A7-6D25-5177B8CD5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DF8F31-F964-321D-07EA-668C2E4AD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A04C4-1180-4D91-B7A8-B7772EEA1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5857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2DCFCE-2DAD-23B2-B6EC-89AF645C0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9D8CBD-1EC1-C71B-09E9-46F49EE7B7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23A910-0623-BEE3-571D-1DE92DE34E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2CC5A1-BDFF-47A0-9AC0-A940BF1F5FE7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28A608-6555-5DF7-3901-9DF7CEF156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C14191-CE65-69AC-9E59-E5446214FF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6A04C4-1180-4D91-B7A8-B7772EEA1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754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E17568-09E4-95FA-7048-40F1842DE3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0" y="1532239"/>
            <a:ext cx="3984554" cy="708155"/>
          </a:xfrm>
        </p:spPr>
        <p:txBody>
          <a:bodyPr>
            <a:normAutofit/>
          </a:bodyPr>
          <a:lstStyle/>
          <a:p>
            <a:pPr algn="l"/>
            <a:r>
              <a:rPr lang="en-IN" sz="2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PROJECT REVIEW – PHASE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7FB6D2-3A25-8239-2A37-C85E4AE611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3686" y="5489082"/>
            <a:ext cx="3673372" cy="292486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US" sz="1800" b="1" i="1" dirty="0">
                <a:solidFill>
                  <a:schemeClr val="accent5"/>
                </a:solidFill>
              </a:rPr>
              <a:t>PBL BASED FULLSTACK PROJECT</a:t>
            </a:r>
            <a:endParaRPr lang="en-IN" sz="1800" b="1" i="1" dirty="0">
              <a:solidFill>
                <a:schemeClr val="accent5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555EC0B-C047-C688-1F9F-D08CB5BB85BB}"/>
              </a:ext>
            </a:extLst>
          </p:cNvPr>
          <p:cNvSpPr txBox="1">
            <a:spLocks/>
          </p:cNvSpPr>
          <p:nvPr/>
        </p:nvSpPr>
        <p:spPr>
          <a:xfrm>
            <a:off x="509896" y="1174533"/>
            <a:ext cx="4739836" cy="156221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DIGITAL PROCESS BENCHMARKING TOOL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33CB6E38-5EA8-01CA-1BC6-B7CE00F7947B}"/>
              </a:ext>
            </a:extLst>
          </p:cNvPr>
          <p:cNvSpPr txBox="1">
            <a:spLocks/>
          </p:cNvSpPr>
          <p:nvPr/>
        </p:nvSpPr>
        <p:spPr>
          <a:xfrm>
            <a:off x="334190" y="5781568"/>
            <a:ext cx="5091249" cy="11368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1800" b="1" dirty="0"/>
              <a:t>DEPT. :    </a:t>
            </a:r>
            <a:r>
              <a:rPr lang="en-IN" sz="1800" dirty="0"/>
              <a:t>ELECTRONICS &amp; COMMUNICATION     	ENGINEERING</a:t>
            </a:r>
          </a:p>
          <a:p>
            <a:pPr algn="l"/>
            <a:r>
              <a:rPr lang="en-IN" sz="1800" b="1" dirty="0"/>
              <a:t>DATE :      </a:t>
            </a:r>
            <a:r>
              <a:rPr lang="en-IN" sz="1800" dirty="0"/>
              <a:t>12/02/2026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D1A30FB-343C-FE90-311C-D13B47CF0466}"/>
              </a:ext>
            </a:extLst>
          </p:cNvPr>
          <p:cNvSpPr txBox="1">
            <a:spLocks/>
          </p:cNvSpPr>
          <p:nvPr/>
        </p:nvSpPr>
        <p:spPr>
          <a:xfrm>
            <a:off x="1490774" y="3495258"/>
            <a:ext cx="3125337" cy="11368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b="1">
                <a:solidFill>
                  <a:schemeClr val="accent4">
                    <a:lumMod val="50000"/>
                  </a:schemeClr>
                </a:solidFill>
              </a:rPr>
              <a:t>PRESENTED BY</a:t>
            </a:r>
          </a:p>
          <a:p>
            <a:r>
              <a:rPr lang="en-IN" sz="1800" b="1"/>
              <a:t>ASHOK J</a:t>
            </a:r>
          </a:p>
          <a:p>
            <a:r>
              <a:rPr lang="en-IN" sz="1800" b="1"/>
              <a:t>[7376241EC502]</a:t>
            </a:r>
            <a:endParaRPr lang="en-IN" sz="18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D360247-2DB0-761A-8696-A60A6FF5BE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5772" y="2449377"/>
            <a:ext cx="5802086" cy="3802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905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5F9609-0BD3-A8E0-7F26-3D84129D1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6" y="216042"/>
            <a:ext cx="5814240" cy="1556870"/>
          </a:xfrm>
        </p:spPr>
        <p:txBody>
          <a:bodyPr anchor="b">
            <a:normAutofit/>
          </a:bodyPr>
          <a:lstStyle/>
          <a:p>
            <a:r>
              <a:rPr lang="en-IN" sz="3600" b="1" dirty="0"/>
              <a:t>IMPLEMENTATION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6AC9C3-7F0D-DA90-6BDA-40CFB935BE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2041" y="1913247"/>
            <a:ext cx="6022338" cy="423634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dirty="0"/>
              <a:t>Implemented core full-stack features including:</a:t>
            </a:r>
          </a:p>
          <a:p>
            <a:r>
              <a:rPr lang="en-IN" sz="1800" dirty="0"/>
              <a:t>Backend API Development</a:t>
            </a:r>
          </a:p>
          <a:p>
            <a:r>
              <a:rPr lang="en-IN" sz="1800" dirty="0"/>
              <a:t>Database &amp; Authentication Integration</a:t>
            </a:r>
          </a:p>
          <a:p>
            <a:r>
              <a:rPr lang="en-IN" sz="1800" dirty="0"/>
              <a:t>Full Stack CRUD Operations</a:t>
            </a:r>
          </a:p>
          <a:p>
            <a:r>
              <a:rPr lang="en-IN" sz="1800" dirty="0"/>
              <a:t>State Management</a:t>
            </a:r>
          </a:p>
          <a:p>
            <a:r>
              <a:rPr lang="en-IN" sz="1800" dirty="0"/>
              <a:t>Error Handling &amp; Security</a:t>
            </a:r>
          </a:p>
          <a:p>
            <a:pPr marL="0" indent="0">
              <a:buNone/>
            </a:pPr>
            <a:r>
              <a:rPr lang="en-IN" sz="1800" dirty="0"/>
              <a:t>Additional enhancements:</a:t>
            </a:r>
          </a:p>
          <a:p>
            <a:r>
              <a:rPr lang="en-IN" sz="1800" dirty="0"/>
              <a:t>Email Report System</a:t>
            </a:r>
          </a:p>
          <a:p>
            <a:r>
              <a:rPr lang="en-IN" sz="1800" dirty="0"/>
              <a:t>Benchmark Comparison Charts</a:t>
            </a:r>
          </a:p>
          <a:p>
            <a:r>
              <a:rPr lang="en-IN" sz="1800" dirty="0"/>
              <a:t>CSV / JSON Export</a:t>
            </a:r>
          </a:p>
          <a:p>
            <a:r>
              <a:rPr lang="en-IN" sz="1800" dirty="0"/>
              <a:t>Modern UI Theme System</a:t>
            </a:r>
          </a:p>
        </p:txBody>
      </p:sp>
      <p:pic>
        <p:nvPicPr>
          <p:cNvPr id="4" name="Picture 3" descr="https://miro.medium.com/0%2AdWvxcuohaN5V5vTM.png">
            <a:extLst>
              <a:ext uri="{FF2B5EF4-FFF2-40B4-BE49-F238E27FC236}">
                <a16:creationId xmlns:a16="http://schemas.microsoft.com/office/drawing/2014/main" id="{2A66535B-7380-6129-1A5C-94160FCDBD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9766" y="1471384"/>
            <a:ext cx="3712869" cy="1355197"/>
          </a:xfrm>
          <a:prstGeom prst="rect">
            <a:avLst/>
          </a:prstGeom>
        </p:spPr>
      </p:pic>
      <p:pic>
        <p:nvPicPr>
          <p:cNvPr id="5" name="Picture 4" descr="The frontend, backend and database of a web-based application. | Download  Scientific Diagram">
            <a:extLst>
              <a:ext uri="{FF2B5EF4-FFF2-40B4-BE49-F238E27FC236}">
                <a16:creationId xmlns:a16="http://schemas.microsoft.com/office/drawing/2014/main" id="{D44DD66B-CCFE-3D79-F47E-B149F10344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9766" y="4031419"/>
            <a:ext cx="3712869" cy="1902845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A65989E-BBD5-44D7-AA86-7AFD5D46B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66000">
                <a:srgbClr val="000000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31A2881-D8D7-4A7D-ACA3-E9F849F85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6400800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6359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DE2FEE-D938-47FF-7138-A9186762C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5" name="Rectangle 1034">
            <a:extLst>
              <a:ext uri="{FF2B5EF4-FFF2-40B4-BE49-F238E27FC236}">
                <a16:creationId xmlns:a16="http://schemas.microsoft.com/office/drawing/2014/main" id="{AE6CA01B-0DEB-4E9A-9768-B728DA42C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B40421-8B69-8791-9171-CF6638167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-303954"/>
            <a:ext cx="6318649" cy="1454051"/>
          </a:xfrm>
        </p:spPr>
        <p:txBody>
          <a:bodyPr anchor="b">
            <a:normAutofit/>
          </a:bodyPr>
          <a:lstStyle/>
          <a:p>
            <a:r>
              <a:rPr lang="en-IN" sz="3600" b="1" dirty="0">
                <a:solidFill>
                  <a:schemeClr val="tx2"/>
                </a:solidFill>
              </a:rPr>
              <a:t>BACKEND API DEVELOPMENT</a:t>
            </a:r>
          </a:p>
        </p:txBody>
      </p:sp>
      <p:grpSp>
        <p:nvGrpSpPr>
          <p:cNvPr id="1037" name="Group 1036">
            <a:extLst>
              <a:ext uri="{FF2B5EF4-FFF2-40B4-BE49-F238E27FC236}">
                <a16:creationId xmlns:a16="http://schemas.microsoft.com/office/drawing/2014/main" id="{A57D8C8E-634E-4E83-9657-225A4DFE4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4155"/>
            <a:ext cx="2514948" cy="2174333"/>
            <a:chOff x="-305" y="-4155"/>
            <a:chExt cx="2514948" cy="2174333"/>
          </a:xfrm>
        </p:grpSpPr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9D5D1578-BE90-4A7E-9856-BB4025E5AE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18ADDDE1-EC05-4BE5-9866-89714E0B73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0A118A52-E1FF-455C-B1A1-1CF50EE05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30E1677B-677B-48F1-971D-9E7F3CA512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030" name="Picture 6" descr="Streamlining Backend-Frontend Integration: A Quick Guide” | by Adityagaba |  Medium">
            <a:extLst>
              <a:ext uri="{FF2B5EF4-FFF2-40B4-BE49-F238E27FC236}">
                <a16:creationId xmlns:a16="http://schemas.microsoft.com/office/drawing/2014/main" id="{595CF8BF-1FFB-9029-51E0-2F786DF8EF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254411" y="451945"/>
            <a:ext cx="3389008" cy="1906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9AF49-4707-3B71-528F-28D9F6295A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1" y="1449896"/>
            <a:ext cx="6901464" cy="461107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1800" b="1" u="sng" dirty="0"/>
              <a:t>Key APIs implemented:</a:t>
            </a:r>
          </a:p>
          <a:p>
            <a:pPr marL="0" indent="0">
              <a:buNone/>
            </a:pPr>
            <a:endParaRPr lang="en-IN" sz="100" b="1" u="sng" dirty="0">
              <a:solidFill>
                <a:schemeClr val="tx2"/>
              </a:solidFill>
            </a:endParaRPr>
          </a:p>
          <a:p>
            <a:r>
              <a:rPr lang="en-US" sz="1800" dirty="0"/>
              <a:t>User authentication APIs</a:t>
            </a:r>
          </a:p>
          <a:p>
            <a:r>
              <a:rPr lang="en-US" sz="1800" dirty="0"/>
              <a:t>Benchmark CRUD APIs</a:t>
            </a:r>
          </a:p>
          <a:p>
            <a:r>
              <a:rPr lang="en-US" sz="1800" dirty="0"/>
              <a:t>Process monitoring APIs</a:t>
            </a:r>
          </a:p>
          <a:p>
            <a:r>
              <a:rPr lang="en-US" sz="1800" dirty="0"/>
              <a:t>Report generation APIs</a:t>
            </a:r>
          </a:p>
          <a:p>
            <a:pPr marL="0" indent="0">
              <a:buNone/>
            </a:pPr>
            <a:r>
              <a:rPr lang="en-US" sz="1800" dirty="0"/>
              <a:t>API requests are tested using </a:t>
            </a:r>
            <a:r>
              <a:rPr lang="en-US" sz="1800" b="1" dirty="0"/>
              <a:t>Postman</a:t>
            </a:r>
            <a:r>
              <a:rPr lang="en-US" sz="1800" dirty="0"/>
              <a:t>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IN" sz="1800" b="1" u="sng" dirty="0"/>
              <a:t>API workflow:</a:t>
            </a:r>
          </a:p>
          <a:p>
            <a:pPr marL="0" indent="0">
              <a:buNone/>
            </a:pPr>
            <a:endParaRPr lang="en-IN" sz="600" b="1" u="sng" dirty="0"/>
          </a:p>
          <a:p>
            <a:pPr marL="0" indent="0">
              <a:buNone/>
            </a:pPr>
            <a:r>
              <a:rPr lang="en-US" sz="1800" dirty="0"/>
              <a:t>Frontend → API Request → Express Server → Database → Response</a:t>
            </a:r>
          </a:p>
          <a:p>
            <a:pPr marL="0" indent="0">
              <a:buNone/>
            </a:pPr>
            <a:endParaRPr lang="en-US" sz="1800" dirty="0"/>
          </a:p>
        </p:txBody>
      </p:sp>
      <p:pic>
        <p:nvPicPr>
          <p:cNvPr id="1026" name="Picture 2" descr="REST software - interface in Server architecture">
            <a:extLst>
              <a:ext uri="{FF2B5EF4-FFF2-40B4-BE49-F238E27FC236}">
                <a16:creationId xmlns:a16="http://schemas.microsoft.com/office/drawing/2014/main" id="{0ED30238-9371-E647-8C26-34569FA0EE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61435" y="2392145"/>
            <a:ext cx="3774960" cy="1887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mple REST API using Node.js, Express and Sequelize">
            <a:extLst>
              <a:ext uri="{FF2B5EF4-FFF2-40B4-BE49-F238E27FC236}">
                <a16:creationId xmlns:a16="http://schemas.microsoft.com/office/drawing/2014/main" id="{8F6F31B2-D12D-1D6C-071E-7B55757766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61435" y="4676829"/>
            <a:ext cx="3774960" cy="1179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729B63-6A2C-2925-F939-76DDBCDAAE45}"/>
              </a:ext>
            </a:extLst>
          </p:cNvPr>
          <p:cNvSpPr txBox="1"/>
          <p:nvPr/>
        </p:nvSpPr>
        <p:spPr>
          <a:xfrm>
            <a:off x="6415944" y="587630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RESTful APIs were developed using </a:t>
            </a:r>
            <a:r>
              <a:rPr lang="en-US" b="1" dirty="0"/>
              <a:t>Node.js and Express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4055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7B9ED2-A4E3-85BF-EEFC-078D897BB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6" name="Rectangle 2055">
            <a:extLst>
              <a:ext uri="{FF2B5EF4-FFF2-40B4-BE49-F238E27FC236}">
                <a16:creationId xmlns:a16="http://schemas.microsoft.com/office/drawing/2014/main" id="{922F19F4-FE70-43DC-856F-2CE5F521DC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57" name="Group 2056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062" name="Rectangle 206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3" name="Rectangle 206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4" name="Rectangle 206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66" name="Rectangle 206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59078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F9A83B-C8EF-E74A-9F0E-7BC929107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73940"/>
            <a:ext cx="4928291" cy="1035781"/>
          </a:xfrm>
        </p:spPr>
        <p:txBody>
          <a:bodyPr anchor="ctr">
            <a:normAutofit/>
          </a:bodyPr>
          <a:lstStyle/>
          <a:p>
            <a:r>
              <a:rPr lang="en-IN" sz="2500" b="1"/>
              <a:t>DATABASE &amp; AUTHENTICATION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9F7065-51A3-D505-5B85-2043CF4293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670" y="2280245"/>
            <a:ext cx="5826513" cy="4114104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r>
              <a:rPr lang="en-IN" sz="1600" dirty="0"/>
              <a:t>MongoDB is used as the database.</a:t>
            </a:r>
          </a:p>
          <a:p>
            <a:pPr marL="0" indent="0">
              <a:buNone/>
            </a:pPr>
            <a:r>
              <a:rPr lang="en-IN" sz="1600" b="1" dirty="0"/>
              <a:t>Main collections:</a:t>
            </a:r>
          </a:p>
          <a:p>
            <a:r>
              <a:rPr lang="en-IN" sz="1600" dirty="0"/>
              <a:t>Users</a:t>
            </a:r>
          </a:p>
          <a:p>
            <a:r>
              <a:rPr lang="en-IN" sz="1600" dirty="0"/>
              <a:t>Benchmarks</a:t>
            </a:r>
          </a:p>
          <a:p>
            <a:r>
              <a:rPr lang="en-IN" sz="1600" dirty="0"/>
              <a:t>Processes</a:t>
            </a:r>
          </a:p>
          <a:p>
            <a:r>
              <a:rPr lang="en-IN" sz="1600" dirty="0"/>
              <a:t>Email Notifications</a:t>
            </a:r>
          </a:p>
          <a:p>
            <a:pPr marL="0" indent="0">
              <a:buNone/>
            </a:pPr>
            <a:r>
              <a:rPr lang="en-US" sz="1600" b="1" dirty="0"/>
              <a:t>Authentication features</a:t>
            </a:r>
            <a:r>
              <a:rPr lang="en-US" sz="1600" dirty="0"/>
              <a:t>:</a:t>
            </a:r>
          </a:p>
          <a:p>
            <a:r>
              <a:rPr lang="en-US" sz="1600" dirty="0"/>
              <a:t>JWT token authentication</a:t>
            </a:r>
          </a:p>
          <a:p>
            <a:r>
              <a:rPr lang="en-US" sz="1600" dirty="0"/>
              <a:t>Password hashing</a:t>
            </a:r>
          </a:p>
          <a:p>
            <a:r>
              <a:rPr lang="en-US" sz="1600" dirty="0"/>
              <a:t>Protected API routes</a:t>
            </a:r>
          </a:p>
          <a:p>
            <a:r>
              <a:rPr lang="en-US" sz="1600" dirty="0"/>
              <a:t>Secure user sessions</a:t>
            </a:r>
            <a:endParaRPr lang="en-IN" sz="1600" dirty="0"/>
          </a:p>
          <a:p>
            <a:pPr marL="0" indent="0">
              <a:buNone/>
            </a:pPr>
            <a:r>
              <a:rPr lang="en-US" sz="1600" dirty="0"/>
              <a:t>This ensures </a:t>
            </a:r>
            <a:r>
              <a:rPr lang="en-US" sz="1600" b="1" dirty="0"/>
              <a:t>secure access to the application</a:t>
            </a:r>
            <a:r>
              <a:rPr lang="en-US" sz="1600" dirty="0"/>
              <a:t>.</a:t>
            </a:r>
            <a:endParaRPr lang="en-IN" sz="1600" dirty="0"/>
          </a:p>
        </p:txBody>
      </p:sp>
      <p:sp>
        <p:nvSpPr>
          <p:cNvPr id="2068" name="Rectangle 2067">
            <a:extLst>
              <a:ext uri="{FF2B5EF4-FFF2-40B4-BE49-F238E27FC236}">
                <a16:creationId xmlns:a16="http://schemas.microsoft.com/office/drawing/2014/main" id="{395ECC94-3D5E-46A7-A7A1-DE807E156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34418" y="658367"/>
            <a:ext cx="4719382" cy="26791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4" name="Picture 6" descr="Diagrams And Movies Of All The OAuth 2.0 Flows | by Takahiko Kawasaki |  Medium">
            <a:extLst>
              <a:ext uri="{FF2B5EF4-FFF2-40B4-BE49-F238E27FC236}">
                <a16:creationId xmlns:a16="http://schemas.microsoft.com/office/drawing/2014/main" id="{3FBD7C74-38EC-D5D4-C2B9-34587CEA98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94692" y="841905"/>
            <a:ext cx="3798652" cy="2317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70" name="Rectangle 2069">
            <a:extLst>
              <a:ext uri="{FF2B5EF4-FFF2-40B4-BE49-F238E27FC236}">
                <a16:creationId xmlns:a16="http://schemas.microsoft.com/office/drawing/2014/main" id="{7E549738-9961-462D-81B7-4A7A446911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34418" y="3530966"/>
            <a:ext cx="4719382" cy="26791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E4518FD-7B4E-4C24-3E35-138F516DEE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6471" y="3703659"/>
            <a:ext cx="4175094" cy="2317178"/>
          </a:xfrm>
          <a:prstGeom prst="rect">
            <a:avLst/>
          </a:prstGeom>
        </p:spPr>
      </p:pic>
      <p:cxnSp>
        <p:nvCxnSpPr>
          <p:cNvPr id="2072" name="Straight Connector 2071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5986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EF12E4-C3B4-C0B1-8BA2-A0B8C0518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9" name="Rectangle 3088">
            <a:extLst>
              <a:ext uri="{FF2B5EF4-FFF2-40B4-BE49-F238E27FC236}">
                <a16:creationId xmlns:a16="http://schemas.microsoft.com/office/drawing/2014/main" id="{922F19F4-FE70-43DC-856F-2CE5F521DC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91" name="Group 309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084" name="Rectangle 3083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93" name="Rectangle 309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86" name="Rectangle 3085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88" name="Rectangle 3087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59078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DE0CC7-3812-7E1F-B5AD-F57EF0FDC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73940"/>
            <a:ext cx="4928291" cy="1035781"/>
          </a:xfrm>
        </p:spPr>
        <p:txBody>
          <a:bodyPr anchor="ctr">
            <a:normAutofit/>
          </a:bodyPr>
          <a:lstStyle/>
          <a:p>
            <a:r>
              <a:rPr lang="en-IN" sz="3300" b="1"/>
              <a:t>FULLSTACK CRUD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6D393A-9EA1-7C3B-7BCA-7BA240490D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2438403"/>
            <a:ext cx="5994157" cy="3763442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r>
              <a:rPr lang="en-IN" sz="2400" dirty="0"/>
              <a:t>Implemented complete </a:t>
            </a:r>
            <a:r>
              <a:rPr lang="en-IN" sz="2400" b="1" dirty="0"/>
              <a:t>CRUD</a:t>
            </a:r>
            <a:r>
              <a:rPr lang="en-IN" sz="2400" dirty="0"/>
              <a:t> operations for benchmarks.</a:t>
            </a:r>
            <a:endParaRPr lang="en-IN" sz="2400" u="sng" dirty="0"/>
          </a:p>
          <a:p>
            <a:pPr marL="0" indent="0">
              <a:buNone/>
            </a:pPr>
            <a:r>
              <a:rPr lang="en-IN" sz="2400" u="sng" dirty="0"/>
              <a:t>Users can:</a:t>
            </a:r>
          </a:p>
          <a:p>
            <a:r>
              <a:rPr lang="en-IN" sz="2400" dirty="0"/>
              <a:t>Create benchmark data</a:t>
            </a:r>
          </a:p>
          <a:p>
            <a:r>
              <a:rPr lang="en-IN" sz="2400" dirty="0"/>
              <a:t>View benchmark details</a:t>
            </a:r>
          </a:p>
          <a:p>
            <a:r>
              <a:rPr lang="en-IN" sz="2400" dirty="0"/>
              <a:t>Update benchmark metrics</a:t>
            </a:r>
          </a:p>
          <a:p>
            <a:r>
              <a:rPr lang="en-IN" sz="2400" dirty="0"/>
              <a:t>Delete benchmarks</a:t>
            </a:r>
          </a:p>
          <a:p>
            <a:pPr marL="0" indent="0">
              <a:buNone/>
            </a:pPr>
            <a:r>
              <a:rPr lang="en-IN" sz="2400" dirty="0"/>
              <a:t>Frontend communicates with backend APIs to update data </a:t>
            </a:r>
            <a:r>
              <a:rPr lang="en-IN" sz="2400" b="1" dirty="0"/>
              <a:t>in real time</a:t>
            </a:r>
            <a:r>
              <a:rPr lang="en-IN" sz="2400" dirty="0"/>
              <a:t>.</a:t>
            </a:r>
          </a:p>
        </p:txBody>
      </p:sp>
      <p:sp>
        <p:nvSpPr>
          <p:cNvPr id="3090" name="Rectangle 3089">
            <a:extLst>
              <a:ext uri="{FF2B5EF4-FFF2-40B4-BE49-F238E27FC236}">
                <a16:creationId xmlns:a16="http://schemas.microsoft.com/office/drawing/2014/main" id="{395ECC94-3D5E-46A7-A7A1-DE807E156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34418" y="658367"/>
            <a:ext cx="4719382" cy="26791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Full Stack Development Course: What Does It Cover? A Complete Overview">
            <a:extLst>
              <a:ext uri="{FF2B5EF4-FFF2-40B4-BE49-F238E27FC236}">
                <a16:creationId xmlns:a16="http://schemas.microsoft.com/office/drawing/2014/main" id="{6AD8DF85-712E-27D3-B28E-B811D2120E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943418" y="841905"/>
            <a:ext cx="4101200" cy="2317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92" name="Rectangle 3091">
            <a:extLst>
              <a:ext uri="{FF2B5EF4-FFF2-40B4-BE49-F238E27FC236}">
                <a16:creationId xmlns:a16="http://schemas.microsoft.com/office/drawing/2014/main" id="{7E549738-9961-462D-81B7-4A7A446911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34418" y="3530966"/>
            <a:ext cx="4719382" cy="26791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6" name="Picture 4" descr="Multi-tier application architecture used by CrudComp CRUD applications |  Download Scientific Diagram">
            <a:extLst>
              <a:ext uri="{FF2B5EF4-FFF2-40B4-BE49-F238E27FC236}">
                <a16:creationId xmlns:a16="http://schemas.microsoft.com/office/drawing/2014/main" id="{82E3C787-56C8-AB50-9F7F-5E5FFA853A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41066" y="4018794"/>
            <a:ext cx="4305905" cy="1686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094" name="Straight Connector 3093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5800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2713E8-02F0-D52F-522F-46179524F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5" name="Freeform: Shape 4104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76991F-4B01-824D-C2BB-F94A381EB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IN" b="1" dirty="0"/>
              <a:t>STATE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2F57B-5ACD-43E5-F5AB-58A5095709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280" y="2550035"/>
            <a:ext cx="5862319" cy="38896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State management implemented using </a:t>
            </a:r>
            <a:r>
              <a:rPr lang="en-US" sz="2400" b="1" dirty="0"/>
              <a:t>React Context API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US" sz="2400" u="sng" dirty="0"/>
              <a:t>Managed states include:</a:t>
            </a:r>
          </a:p>
          <a:p>
            <a:r>
              <a:rPr lang="en-US" sz="2400" dirty="0"/>
              <a:t>User authentication state</a:t>
            </a:r>
          </a:p>
          <a:p>
            <a:r>
              <a:rPr lang="en-US" sz="2400" dirty="0"/>
              <a:t>Benchmark data state</a:t>
            </a:r>
          </a:p>
          <a:p>
            <a:r>
              <a:rPr lang="en-US" sz="2400" dirty="0"/>
              <a:t>Dashboard analytics state</a:t>
            </a:r>
          </a:p>
          <a:p>
            <a:r>
              <a:rPr lang="en-US" sz="2400" dirty="0"/>
              <a:t>Application theme state</a:t>
            </a:r>
          </a:p>
          <a:p>
            <a:pPr marL="0" indent="0">
              <a:buNone/>
            </a:pPr>
            <a:r>
              <a:rPr lang="en-US" sz="2400" dirty="0"/>
              <a:t>This ensures </a:t>
            </a:r>
            <a:r>
              <a:rPr lang="en-US" sz="2400" b="1" dirty="0"/>
              <a:t>smooth data flow between components</a:t>
            </a:r>
            <a:r>
              <a:rPr lang="en-US" sz="2400" dirty="0"/>
              <a:t>.</a:t>
            </a:r>
          </a:p>
        </p:txBody>
      </p:sp>
      <p:pic>
        <p:nvPicPr>
          <p:cNvPr id="4098" name="Picture 2" descr="Tutorial: Building React Apps With Flux and Backbone | Toptal®">
            <a:extLst>
              <a:ext uri="{FF2B5EF4-FFF2-40B4-BE49-F238E27FC236}">
                <a16:creationId xmlns:a16="http://schemas.microsoft.com/office/drawing/2014/main" id="{16E566BC-EE65-43ED-C952-8B4B6774E8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719367" y="2871731"/>
            <a:ext cx="4788505" cy="2382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7" name="Freeform: Shape 4106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273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E1664C-4356-7346-CEE6-7CF689258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36" name="Rectangle 5135">
            <a:extLst>
              <a:ext uri="{FF2B5EF4-FFF2-40B4-BE49-F238E27FC236}">
                <a16:creationId xmlns:a16="http://schemas.microsoft.com/office/drawing/2014/main" id="{922F19F4-FE70-43DC-856F-2CE5F521DC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138" name="Group 5137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5139" name="Rectangle 5138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40" name="Rectangle 5139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41" name="Rectangle 5140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143" name="Rectangle 5142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59078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892D72-8A53-32A6-E026-C85D227D8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73940"/>
            <a:ext cx="4928291" cy="1035781"/>
          </a:xfrm>
        </p:spPr>
        <p:txBody>
          <a:bodyPr anchor="ctr">
            <a:normAutofit/>
          </a:bodyPr>
          <a:lstStyle/>
          <a:p>
            <a:r>
              <a:rPr lang="en-IN" sz="3300" b="1"/>
              <a:t>ERROR HANDLING &amp; 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3A4689-C39D-9B03-0947-CC96267F8A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692" y="2524722"/>
            <a:ext cx="6170545" cy="345933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1800" dirty="0"/>
              <a:t>Implemented multiple security mechanisms.</a:t>
            </a:r>
          </a:p>
          <a:p>
            <a:pPr marL="0" indent="0">
              <a:buNone/>
            </a:pPr>
            <a:r>
              <a:rPr lang="en-IN" sz="1800" u="sng" dirty="0"/>
              <a:t>Security features include</a:t>
            </a:r>
            <a:r>
              <a:rPr lang="en-IN" sz="1800" dirty="0"/>
              <a:t>:</a:t>
            </a:r>
          </a:p>
          <a:p>
            <a:r>
              <a:rPr lang="en-IN" sz="1800" dirty="0"/>
              <a:t>Server-side input validation</a:t>
            </a:r>
          </a:p>
          <a:p>
            <a:r>
              <a:rPr lang="en-IN" sz="1800" dirty="0"/>
              <a:t>Secure HTTP headers</a:t>
            </a:r>
          </a:p>
          <a:p>
            <a:r>
              <a:rPr lang="en-IN" sz="1800" dirty="0"/>
              <a:t>API error handling middleware</a:t>
            </a:r>
          </a:p>
          <a:p>
            <a:r>
              <a:rPr lang="en-IN" sz="1800" dirty="0"/>
              <a:t>Error logging system</a:t>
            </a:r>
          </a:p>
          <a:p>
            <a:pPr marL="0" indent="0">
              <a:buNone/>
            </a:pPr>
            <a:r>
              <a:rPr lang="en-IN" sz="1800" dirty="0"/>
              <a:t>These measures improve </a:t>
            </a:r>
            <a:r>
              <a:rPr lang="en-IN" sz="1800" b="1" dirty="0"/>
              <a:t>system reliability and protection</a:t>
            </a:r>
            <a:r>
              <a:rPr lang="en-IN" sz="1800" dirty="0"/>
              <a:t>.</a:t>
            </a:r>
          </a:p>
        </p:txBody>
      </p:sp>
      <p:sp>
        <p:nvSpPr>
          <p:cNvPr id="5145" name="Rectangle 5144">
            <a:extLst>
              <a:ext uri="{FF2B5EF4-FFF2-40B4-BE49-F238E27FC236}">
                <a16:creationId xmlns:a16="http://schemas.microsoft.com/office/drawing/2014/main" id="{395ECC94-3D5E-46A7-A7A1-DE807E156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34418" y="658367"/>
            <a:ext cx="4719382" cy="26791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2" name="Picture 2" descr="How to Write A Security Pattern - API Services">
            <a:extLst>
              <a:ext uri="{FF2B5EF4-FFF2-40B4-BE49-F238E27FC236}">
                <a16:creationId xmlns:a16="http://schemas.microsoft.com/office/drawing/2014/main" id="{101199A9-F7F4-D898-EA01-326023C8D0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41066" y="1042430"/>
            <a:ext cx="4305905" cy="1916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47" name="Rectangle 5146">
            <a:extLst>
              <a:ext uri="{FF2B5EF4-FFF2-40B4-BE49-F238E27FC236}">
                <a16:creationId xmlns:a16="http://schemas.microsoft.com/office/drawing/2014/main" id="{7E549738-9961-462D-81B7-4A7A446911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34418" y="3530966"/>
            <a:ext cx="4719382" cy="26791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4" name="Picture 4" descr="Apache Security: Chapter 10. Web Application Security">
            <a:extLst>
              <a:ext uri="{FF2B5EF4-FFF2-40B4-BE49-F238E27FC236}">
                <a16:creationId xmlns:a16="http://schemas.microsoft.com/office/drawing/2014/main" id="{337EB47A-784A-B079-E94D-19E4C70B03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41066" y="3996021"/>
            <a:ext cx="4305905" cy="1732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149" name="Straight Connector 5148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34982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6139E6-2C34-E6EE-A2E2-31341BB52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88" name="Rectangle 6187">
            <a:extLst>
              <a:ext uri="{FF2B5EF4-FFF2-40B4-BE49-F238E27FC236}">
                <a16:creationId xmlns:a16="http://schemas.microsoft.com/office/drawing/2014/main" id="{922F19F4-FE70-43DC-856F-2CE5F521DC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190" name="Group 618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6191" name="Rectangle 619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92" name="Rectangle 619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93" name="Rectangle 619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195" name="Rectangle 619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59078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9E5302-24A0-5F85-B514-E2C761AF4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73940"/>
            <a:ext cx="4928291" cy="10357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300" b="1"/>
              <a:t>EMAIL REPORT SYSTEM (NEW FEATURE)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187973-4A33-6B24-63AE-6CE685C523D5}"/>
              </a:ext>
            </a:extLst>
          </p:cNvPr>
          <p:cNvSpPr txBox="1"/>
          <p:nvPr/>
        </p:nvSpPr>
        <p:spPr>
          <a:xfrm>
            <a:off x="640081" y="2524721"/>
            <a:ext cx="5994156" cy="36771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/>
              <a:t>Implemented automated email reporting system.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u="sng" dirty="0"/>
              <a:t>Features</a:t>
            </a:r>
            <a:r>
              <a:rPr lang="en-US" sz="2400" dirty="0"/>
              <a:t>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Automatic email when benchmark is created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Manual email report from Reports dashboard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u="sng" dirty="0"/>
              <a:t>Email report includes</a:t>
            </a:r>
            <a:r>
              <a:rPr lang="en-US" sz="2400" dirty="0"/>
              <a:t>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Benchmark summary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Average metrics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Individual benchmark details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Performance insights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/>
              <a:t>Emails are sent using </a:t>
            </a:r>
            <a:r>
              <a:rPr lang="en-US" sz="2400" b="1" dirty="0"/>
              <a:t>SMTP service</a:t>
            </a:r>
            <a:r>
              <a:rPr lang="en-US" sz="2400" dirty="0"/>
              <a:t>.</a:t>
            </a:r>
          </a:p>
        </p:txBody>
      </p:sp>
      <p:sp>
        <p:nvSpPr>
          <p:cNvPr id="6197" name="Rectangle 6196">
            <a:extLst>
              <a:ext uri="{FF2B5EF4-FFF2-40B4-BE49-F238E27FC236}">
                <a16:creationId xmlns:a16="http://schemas.microsoft.com/office/drawing/2014/main" id="{395ECC94-3D5E-46A7-A7A1-DE807E156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34418" y="658367"/>
            <a:ext cx="4719382" cy="26791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50" name="Picture 6">
            <a:extLst>
              <a:ext uri="{FF2B5EF4-FFF2-40B4-BE49-F238E27FC236}">
                <a16:creationId xmlns:a16="http://schemas.microsoft.com/office/drawing/2014/main" id="{16200ACA-CE11-63E9-F6C9-89B9A545F4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366249" y="841905"/>
            <a:ext cx="3255539" cy="2317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99" name="Rectangle 6198">
            <a:extLst>
              <a:ext uri="{FF2B5EF4-FFF2-40B4-BE49-F238E27FC236}">
                <a16:creationId xmlns:a16="http://schemas.microsoft.com/office/drawing/2014/main" id="{7E549738-9961-462D-81B7-4A7A446911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34418" y="3530966"/>
            <a:ext cx="4719382" cy="26791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BF554173-7F67-6FCF-1E9A-B86D9D3F2D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934305" y="3703659"/>
            <a:ext cx="4119427" cy="2317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201" name="Straight Connector 6200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79437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645272-03FA-872C-F9C3-D54715E61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75" name="Rectangle 7174">
            <a:extLst>
              <a:ext uri="{FF2B5EF4-FFF2-40B4-BE49-F238E27FC236}">
                <a16:creationId xmlns:a16="http://schemas.microsoft.com/office/drawing/2014/main" id="{922F19F4-FE70-43DC-856F-2CE5F521DC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177" name="Group 7176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7178" name="Rectangle 7177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79" name="Rectangle 7178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80" name="Rectangle 7179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182" name="Rectangle 7181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59078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0E0FE6-5684-E17C-9748-60ABF2AB7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73940"/>
            <a:ext cx="4928291" cy="1035781"/>
          </a:xfrm>
        </p:spPr>
        <p:txBody>
          <a:bodyPr anchor="ctr">
            <a:normAutofit/>
          </a:bodyPr>
          <a:lstStyle/>
          <a:p>
            <a:r>
              <a:rPr lang="en-IN" sz="3300" b="1"/>
              <a:t>REPORTS MODULE ENHANCEMENTS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75364A-2CFA-B69D-77D8-755C9F6937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9" y="2524721"/>
            <a:ext cx="4991629" cy="367712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800"/>
              <a:t>Reports page provides advanced reporting features.</a:t>
            </a:r>
          </a:p>
          <a:p>
            <a:pPr marL="0" indent="0">
              <a:buNone/>
            </a:pPr>
            <a:r>
              <a:rPr lang="en-US" sz="1800" u="sng"/>
              <a:t>Users can</a:t>
            </a:r>
            <a:r>
              <a:rPr lang="en-US" sz="1800"/>
              <a:t>:</a:t>
            </a:r>
          </a:p>
          <a:p>
            <a:r>
              <a:rPr lang="en-US" sz="1800"/>
              <a:t>Send benchmark report to email</a:t>
            </a:r>
          </a:p>
          <a:p>
            <a:r>
              <a:rPr lang="en-US" sz="1800"/>
              <a:t>Export data as CSV</a:t>
            </a:r>
          </a:p>
          <a:p>
            <a:r>
              <a:rPr lang="en-US" sz="1800"/>
              <a:t>Export data as JSON</a:t>
            </a:r>
          </a:p>
          <a:p>
            <a:r>
              <a:rPr lang="en-US" sz="1800"/>
              <a:t>View benchmark summary statistics</a:t>
            </a:r>
          </a:p>
          <a:p>
            <a:pPr marL="0" indent="0">
              <a:buNone/>
            </a:pPr>
            <a:r>
              <a:rPr lang="en-US" sz="1800"/>
              <a:t>This enables </a:t>
            </a:r>
            <a:r>
              <a:rPr lang="en-US" sz="1800" b="1"/>
              <a:t>easy reporting and external analysis</a:t>
            </a:r>
            <a:r>
              <a:rPr lang="en-US" sz="1800"/>
              <a:t>.</a:t>
            </a:r>
          </a:p>
          <a:p>
            <a:pPr marL="0" indent="0">
              <a:buNone/>
            </a:pPr>
            <a:endParaRPr lang="en-US" sz="1800"/>
          </a:p>
        </p:txBody>
      </p:sp>
      <p:sp>
        <p:nvSpPr>
          <p:cNvPr id="7184" name="Rectangle 7183">
            <a:extLst>
              <a:ext uri="{FF2B5EF4-FFF2-40B4-BE49-F238E27FC236}">
                <a16:creationId xmlns:a16="http://schemas.microsoft.com/office/drawing/2014/main" id="{395ECC94-3D5E-46A7-A7A1-DE807E156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34418" y="658367"/>
            <a:ext cx="4719382" cy="26791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Browse thousands of Export Csv Button images for design inspiration |  Dribbble">
            <a:extLst>
              <a:ext uri="{FF2B5EF4-FFF2-40B4-BE49-F238E27FC236}">
                <a16:creationId xmlns:a16="http://schemas.microsoft.com/office/drawing/2014/main" id="{BEE843EB-1A6A-328D-7DC4-818E4FAFCE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3723" y="841905"/>
            <a:ext cx="3620590" cy="2317178"/>
          </a:xfrm>
          <a:prstGeom prst="rect">
            <a:avLst/>
          </a:prstGeom>
        </p:spPr>
      </p:pic>
      <p:sp>
        <p:nvSpPr>
          <p:cNvPr id="7186" name="Rectangle 7185">
            <a:extLst>
              <a:ext uri="{FF2B5EF4-FFF2-40B4-BE49-F238E27FC236}">
                <a16:creationId xmlns:a16="http://schemas.microsoft.com/office/drawing/2014/main" id="{7E549738-9961-462D-81B7-4A7A446911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34418" y="3530966"/>
            <a:ext cx="4719382" cy="26791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170" name="Picture 2" descr="Export Dashboards">
            <a:extLst>
              <a:ext uri="{FF2B5EF4-FFF2-40B4-BE49-F238E27FC236}">
                <a16:creationId xmlns:a16="http://schemas.microsoft.com/office/drawing/2014/main" id="{384C5599-523C-9496-F7E4-017323746B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47662" y="3703659"/>
            <a:ext cx="3692713" cy="2317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188" name="Straight Connector 718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81569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41E62A-9DA2-33E1-364F-256EB069D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22F19F4-FE70-43DC-856F-2CE5F521DC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59078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1EE245-7F7E-090D-82AD-810FA8214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73940"/>
            <a:ext cx="4928291" cy="1035781"/>
          </a:xfrm>
        </p:spPr>
        <p:txBody>
          <a:bodyPr anchor="ctr">
            <a:normAutofit/>
          </a:bodyPr>
          <a:lstStyle/>
          <a:p>
            <a:r>
              <a:rPr lang="en-IN" sz="2800" b="1"/>
              <a:t>BENCHMARK COMPARISON 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5D252C-B3D8-F2BF-7AB4-D2E9846D68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9" y="2524721"/>
            <a:ext cx="4991629" cy="367712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600" dirty="0"/>
              <a:t>Implemented bar chart comparison to analyze benchmarks.</a:t>
            </a:r>
          </a:p>
          <a:p>
            <a:pPr marL="0" indent="0">
              <a:buNone/>
            </a:pPr>
            <a:r>
              <a:rPr lang="en-US" sz="1600" dirty="0"/>
              <a:t>Compared metrics:</a:t>
            </a:r>
          </a:p>
          <a:p>
            <a:r>
              <a:rPr lang="en-US" sz="1600" dirty="0"/>
              <a:t>Conversion Rate</a:t>
            </a:r>
          </a:p>
          <a:p>
            <a:r>
              <a:rPr lang="en-US" sz="1600" dirty="0"/>
              <a:t>Customer Satisfaction</a:t>
            </a:r>
          </a:p>
          <a:p>
            <a:r>
              <a:rPr lang="en-US" sz="1600" dirty="0"/>
              <a:t>Operational Efficiency</a:t>
            </a:r>
          </a:p>
          <a:p>
            <a:r>
              <a:rPr lang="en-US" sz="1600" dirty="0"/>
              <a:t>Revenue Growth</a:t>
            </a:r>
          </a:p>
          <a:p>
            <a:pPr marL="0" indent="0">
              <a:buNone/>
            </a:pPr>
            <a:r>
              <a:rPr lang="en-US" sz="1600" dirty="0"/>
              <a:t>Charts help users </a:t>
            </a:r>
            <a:r>
              <a:rPr lang="en-US" sz="1600" b="1" dirty="0"/>
              <a:t>quickly identify performance differences</a:t>
            </a:r>
            <a:r>
              <a:rPr lang="en-US" sz="1600" dirty="0"/>
              <a:t>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95ECC94-3D5E-46A7-A7A1-DE807E156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34418" y="658367"/>
            <a:ext cx="4719382" cy="26791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https://cdn.corporatefinanceinstitute.com/assets/bar-charts.png">
            <a:extLst>
              <a:ext uri="{FF2B5EF4-FFF2-40B4-BE49-F238E27FC236}">
                <a16:creationId xmlns:a16="http://schemas.microsoft.com/office/drawing/2014/main" id="{932728A2-EB96-ACD8-5115-6F9A4DA094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6060" y="841905"/>
            <a:ext cx="3595916" cy="2317178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7E549738-9961-462D-81B7-4A7A446911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34418" y="3530966"/>
            <a:ext cx="4719382" cy="26791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https://www.slidegeeks.com/media/catalog/product/cache/560x315/6/_/6_Months_Company_Revenue_Comparison_Dashboard_Graphics_PDF_Slide_1.jpg">
            <a:extLst>
              <a:ext uri="{FF2B5EF4-FFF2-40B4-BE49-F238E27FC236}">
                <a16:creationId xmlns:a16="http://schemas.microsoft.com/office/drawing/2014/main" id="{FE3FEFFA-EC7F-9B8A-BE70-4D163119A4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305" y="3703659"/>
            <a:ext cx="4119427" cy="2317178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21074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DDE366-86DB-6A55-4C92-4487EA354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22F19F4-FE70-43DC-856F-2CE5F521DC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59078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58801C-DA5E-DB3D-A2CB-FAA2B4E91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73940"/>
            <a:ext cx="4928291" cy="1035781"/>
          </a:xfrm>
        </p:spPr>
        <p:txBody>
          <a:bodyPr anchor="ctr">
            <a:normAutofit/>
          </a:bodyPr>
          <a:lstStyle/>
          <a:p>
            <a:r>
              <a:rPr lang="en-IN" sz="3300" b="1"/>
              <a:t>UI ENHANCEMENT &amp; 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675C4-72FA-BDEC-C80C-63B87C7C43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671" y="2482200"/>
            <a:ext cx="6098566" cy="3832020"/>
          </a:xfrm>
        </p:spPr>
        <p:txBody>
          <a:bodyPr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IN" sz="1700" dirty="0"/>
              <a:t>User interface upgraded to modern dashboard design.</a:t>
            </a:r>
          </a:p>
          <a:p>
            <a:pPr marL="0" indent="0">
              <a:buNone/>
            </a:pPr>
            <a:r>
              <a:rPr lang="en-IN" sz="1700" u="sng" dirty="0"/>
              <a:t>UI features include:</a:t>
            </a:r>
          </a:p>
          <a:p>
            <a:r>
              <a:rPr lang="en-IN" sz="1700" dirty="0"/>
              <a:t>Light theme (iOS style glossy UI)</a:t>
            </a:r>
          </a:p>
          <a:p>
            <a:r>
              <a:rPr lang="en-IN" sz="1700" dirty="0"/>
              <a:t>Dark theme (professional analytics UI)</a:t>
            </a:r>
          </a:p>
          <a:p>
            <a:r>
              <a:rPr lang="en-IN" sz="1700" dirty="0"/>
              <a:t>Theme toggle switch</a:t>
            </a:r>
          </a:p>
          <a:p>
            <a:r>
              <a:rPr lang="en-IN" sz="1700" dirty="0"/>
              <a:t>Responsive dashboard layout</a:t>
            </a:r>
          </a:p>
          <a:p>
            <a:r>
              <a:rPr lang="en-IN" sz="1700" dirty="0"/>
              <a:t>Metric cards and analytics charts</a:t>
            </a:r>
          </a:p>
          <a:p>
            <a:pPr marL="0" indent="0">
              <a:buNone/>
            </a:pPr>
            <a:r>
              <a:rPr lang="en-US" sz="1700" u="sng" dirty="0"/>
              <a:t>The system provides insights such as:</a:t>
            </a:r>
          </a:p>
          <a:p>
            <a:r>
              <a:rPr lang="en-US" sz="1700" dirty="0"/>
              <a:t>Benchmark performance trends</a:t>
            </a:r>
          </a:p>
          <a:p>
            <a:r>
              <a:rPr lang="en-US" sz="1700" dirty="0"/>
              <a:t>Average performance metrics</a:t>
            </a:r>
          </a:p>
          <a:p>
            <a:r>
              <a:rPr lang="en-US" sz="1700" dirty="0"/>
              <a:t>Low-performing process detection</a:t>
            </a:r>
          </a:p>
          <a:p>
            <a:r>
              <a:rPr lang="en-US" sz="1700" dirty="0"/>
              <a:t>Improvement recommendations</a:t>
            </a:r>
          </a:p>
          <a:p>
            <a:pPr marL="0" indent="0">
              <a:buNone/>
            </a:pPr>
            <a:endParaRPr lang="en-IN" sz="16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95ECC94-3D5E-46A7-A7A1-DE807E156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34418" y="658367"/>
            <a:ext cx="4719382" cy="26791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4715E2-81C2-7709-75A1-E104AE53FA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1066" y="983224"/>
            <a:ext cx="4305905" cy="203454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7E549738-9961-462D-81B7-4A7A446911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34418" y="3530966"/>
            <a:ext cx="4719382" cy="26791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0CF2C1D-C639-2A0E-F8DE-09BD2A9F23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1066" y="3850360"/>
            <a:ext cx="4305905" cy="2023775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31590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55194F-DFFE-A22A-29C1-791DFF969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53" name="Rectangle 9252">
            <a:extLst>
              <a:ext uri="{FF2B5EF4-FFF2-40B4-BE49-F238E27FC236}">
                <a16:creationId xmlns:a16="http://schemas.microsoft.com/office/drawing/2014/main" id="{B7412B8E-484B-4452-8644-AD263F593B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255" name="Group 9254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9250" name="Rectangle 9249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57" name="Rectangle 9256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52" name="Rectangle 9251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254" name="Rectangle 9253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59078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4B8B88-75BA-DA82-3EB7-60ACA1946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73940"/>
            <a:ext cx="4928291" cy="1035781"/>
          </a:xfrm>
        </p:spPr>
        <p:txBody>
          <a:bodyPr anchor="ctr">
            <a:normAutofit/>
          </a:bodyPr>
          <a:lstStyle/>
          <a:p>
            <a:r>
              <a:rPr lang="en-IN" sz="3600" b="1"/>
              <a:t>AI INSIGHTS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54373-1A4B-DF2A-AC62-2DED42B1B6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9" y="2524721"/>
            <a:ext cx="4991629" cy="367712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800" b="1" dirty="0"/>
              <a:t>How the AI Module Works</a:t>
            </a:r>
          </a:p>
          <a:p>
            <a:r>
              <a:rPr lang="en-US" sz="1800" dirty="0"/>
              <a:t>Benchmark data is collected from the database.</a:t>
            </a:r>
          </a:p>
          <a:p>
            <a:r>
              <a:rPr lang="en-US" sz="1800" dirty="0"/>
              <a:t>The AI analysis engine evaluates performance gaps.</a:t>
            </a:r>
          </a:p>
          <a:p>
            <a:r>
              <a:rPr lang="en-US" sz="1800" dirty="0"/>
              <a:t>Metrics are compared with benchmark standards.</a:t>
            </a:r>
          </a:p>
          <a:p>
            <a:r>
              <a:rPr lang="en-US" sz="1800" dirty="0"/>
              <a:t>The system generates improvement recommendations.</a:t>
            </a:r>
          </a:p>
          <a:p>
            <a:r>
              <a:rPr lang="en-US" sz="1800" dirty="0"/>
              <a:t>Insights are displayed in the </a:t>
            </a:r>
            <a:r>
              <a:rPr lang="en-US" sz="1800" b="1" dirty="0"/>
              <a:t>AI Insights dashboard</a:t>
            </a:r>
            <a:r>
              <a:rPr lang="en-US" sz="1800" dirty="0"/>
              <a:t>.</a:t>
            </a:r>
          </a:p>
          <a:p>
            <a:pPr marL="0" indent="0">
              <a:buNone/>
            </a:pPr>
            <a:endParaRPr lang="en-IN" sz="1700" dirty="0"/>
          </a:p>
        </p:txBody>
      </p:sp>
      <p:sp>
        <p:nvSpPr>
          <p:cNvPr id="9256" name="Rectangle 9255">
            <a:extLst>
              <a:ext uri="{FF2B5EF4-FFF2-40B4-BE49-F238E27FC236}">
                <a16:creationId xmlns:a16="http://schemas.microsoft.com/office/drawing/2014/main" id="{0FD95D09-2666-454C-AE57-F5C7D86606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34419" y="650054"/>
            <a:ext cx="4719382" cy="55964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89C885-AB8D-6708-7F64-D318352E51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7758" y="873941"/>
            <a:ext cx="1211979" cy="1986852"/>
          </a:xfrm>
          <a:prstGeom prst="rect">
            <a:avLst/>
          </a:prstGeom>
        </p:spPr>
      </p:pic>
      <p:pic>
        <p:nvPicPr>
          <p:cNvPr id="4" name="Picture 3" descr="AI-Based Recommendation Systems: Definition, Types &amp; Use Cases">
            <a:extLst>
              <a:ext uri="{FF2B5EF4-FFF2-40B4-BE49-F238E27FC236}">
                <a16:creationId xmlns:a16="http://schemas.microsoft.com/office/drawing/2014/main" id="{349C0B99-019A-C665-FB22-5071C065AB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6116" y="873940"/>
            <a:ext cx="2064082" cy="1088803"/>
          </a:xfrm>
          <a:prstGeom prst="rect">
            <a:avLst/>
          </a:prstGeom>
        </p:spPr>
      </p:pic>
      <p:pic>
        <p:nvPicPr>
          <p:cNvPr id="9220" name="Picture 4">
            <a:extLst>
              <a:ext uri="{FF2B5EF4-FFF2-40B4-BE49-F238E27FC236}">
                <a16:creationId xmlns:a16="http://schemas.microsoft.com/office/drawing/2014/main" id="{EE25F724-C866-33AC-ACE7-2944678274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81706" y="2992610"/>
            <a:ext cx="4258492" cy="2235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258" name="Straight Connector 925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2A27A95-B8FA-9EE4-6C12-ABFF5EFF01EE}"/>
              </a:ext>
            </a:extLst>
          </p:cNvPr>
          <p:cNvSpPr txBox="1"/>
          <p:nvPr/>
        </p:nvSpPr>
        <p:spPr>
          <a:xfrm>
            <a:off x="7293772" y="650054"/>
            <a:ext cx="13166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1000" b="1" dirty="0"/>
              <a:t>AI Analysis Flow</a:t>
            </a:r>
          </a:p>
        </p:txBody>
      </p:sp>
    </p:spTree>
    <p:extLst>
      <p:ext uri="{BB962C8B-B14F-4D97-AF65-F5344CB8AC3E}">
        <p14:creationId xmlns:p14="http://schemas.microsoft.com/office/powerpoint/2010/main" val="17337802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5C284-E657-8D6C-F603-5A0B81E96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937C2-FA8A-8B73-299C-6550254D20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8141"/>
            <a:ext cx="10515600" cy="5004734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Implemented Backend APIs, Database &amp; Authentication, Full-Stack CRUD, State Management, and Security.</a:t>
            </a:r>
          </a:p>
          <a:p>
            <a:pPr algn="just"/>
            <a:r>
              <a:rPr lang="en-US" dirty="0"/>
              <a:t>Added new features: AI Insights, Email Report System, Benchmark Comparison Charts, and Data Export (CSV/JSON).</a:t>
            </a:r>
          </a:p>
          <a:p>
            <a:pPr algn="just"/>
            <a:r>
              <a:rPr lang="en-US" dirty="0"/>
              <a:t>Developed </a:t>
            </a:r>
            <a:r>
              <a:rPr lang="en-US" b="1" dirty="0"/>
              <a:t>automated Email Report system</a:t>
            </a:r>
            <a:r>
              <a:rPr lang="en-US" dirty="0"/>
              <a:t> with benchmark summaries and insights</a:t>
            </a:r>
          </a:p>
          <a:p>
            <a:pPr algn="just"/>
            <a:r>
              <a:rPr lang="en-US" dirty="0"/>
              <a:t>Enhanced UI dashboard and reporting module for better benchmark analysis and visualization.</a:t>
            </a:r>
          </a:p>
          <a:p>
            <a:pPr algn="just"/>
            <a:r>
              <a:rPr lang="en-US" dirty="0"/>
              <a:t>Phase 3 will focus on advanced analytics, optimization, and final system improvements.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49283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634</TotalTime>
  <Words>573</Words>
  <Application>Microsoft Office PowerPoint</Application>
  <PresentationFormat>Widescreen</PresentationFormat>
  <Paragraphs>124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PROJECT REVIEW – PHASE 2</vt:lpstr>
      <vt:lpstr>IMPLEMENTATION OVERVIEW</vt:lpstr>
      <vt:lpstr>BACKEND API DEVELOPMENT</vt:lpstr>
      <vt:lpstr>DATABASE &amp; AUTHENTICATION INTEGRATION</vt:lpstr>
      <vt:lpstr>FULLSTACK CRUD IMPLEMENTATION</vt:lpstr>
      <vt:lpstr>STATE MANAGEMENT</vt:lpstr>
      <vt:lpstr>ERROR HANDLING &amp; SECURITY</vt:lpstr>
      <vt:lpstr>EMAIL REPORT SYSTEM (NEW FEATURE)</vt:lpstr>
      <vt:lpstr>REPORTS MODULE ENHANCEMENTS</vt:lpstr>
      <vt:lpstr>BENCHMARK COMPARISON VISUALIZATION</vt:lpstr>
      <vt:lpstr>UI ENHANCEMENT &amp; KEY INSIGHTS</vt:lpstr>
      <vt:lpstr>AI INSIGHTS MODULE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ASHOK J</dc:creator>
  <cp:lastModifiedBy>ASHOK J</cp:lastModifiedBy>
  <cp:revision>4</cp:revision>
  <dcterms:created xsi:type="dcterms:W3CDTF">2026-02-11T04:30:09Z</dcterms:created>
  <dcterms:modified xsi:type="dcterms:W3CDTF">2026-03-06T06:45:36Z</dcterms:modified>
</cp:coreProperties>
</file>