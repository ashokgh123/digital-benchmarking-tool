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044A1-3E2A-801C-B0D8-70F6068726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40B686-2B7C-D4F5-5A7A-B9136AE9D3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4C43AC-E523-62E6-645B-A12BE6F5871B}"/>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5" name="Footer Placeholder 4">
            <a:extLst>
              <a:ext uri="{FF2B5EF4-FFF2-40B4-BE49-F238E27FC236}">
                <a16:creationId xmlns:a16="http://schemas.microsoft.com/office/drawing/2014/main" id="{0596B2CF-7262-5120-756A-9999E359F2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7608A6-AB36-296E-9AB3-72E26054E983}"/>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138159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CCD8-CB44-7E51-DFB0-98B4493349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781AE2-5AF4-8217-428A-BB36679968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EE406C-3D83-51D0-9FFF-C91EC664AD9C}"/>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5" name="Footer Placeholder 4">
            <a:extLst>
              <a:ext uri="{FF2B5EF4-FFF2-40B4-BE49-F238E27FC236}">
                <a16:creationId xmlns:a16="http://schemas.microsoft.com/office/drawing/2014/main" id="{D5221821-C3F0-92EE-731A-ECE2E8BC1E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778EE1-9E86-E0EB-2DF4-90C7A1135AA8}"/>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390913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ED45-746F-3B89-8721-1D2C68F16C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0DB12C-D083-AF28-AA69-A49BA6B5AB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4513A2-78F8-CFB5-92F1-F2A7DB014C97}"/>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5" name="Footer Placeholder 4">
            <a:extLst>
              <a:ext uri="{FF2B5EF4-FFF2-40B4-BE49-F238E27FC236}">
                <a16:creationId xmlns:a16="http://schemas.microsoft.com/office/drawing/2014/main" id="{62CBD8E0-22B0-32B4-8525-13B80AA460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F6DF31-83C8-3A98-DC03-3891891E6A0C}"/>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3377235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70E2A-EB5A-3E69-6690-6C26ED4994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A35EF5-AB55-D402-4208-DDFBE0F0E5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06DFEB-6E2A-18FA-BFD1-382895F585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1D99A9-93D5-86D2-FDC2-DA677F3DD445}"/>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6" name="Footer Placeholder 5">
            <a:extLst>
              <a:ext uri="{FF2B5EF4-FFF2-40B4-BE49-F238E27FC236}">
                <a16:creationId xmlns:a16="http://schemas.microsoft.com/office/drawing/2014/main" id="{76B6C0B9-4C6F-B35A-6D0D-4427E28A9A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A03D43-EE7A-6C97-009E-738C5F083C97}"/>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3048178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BD0D-3EA7-21D0-2E49-8410AF88E3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62AA62-D921-3847-FCCA-8A9EB7EBFE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06EF06-3A7A-7B10-17CB-F8B768924F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BDBE3E-6987-EEEC-D5E1-060D4D2902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7A5BCF-1D0A-57DD-EBF5-629A7D9CEB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AE82F1-0A91-55BC-4030-144F686059EE}"/>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8" name="Footer Placeholder 7">
            <a:extLst>
              <a:ext uri="{FF2B5EF4-FFF2-40B4-BE49-F238E27FC236}">
                <a16:creationId xmlns:a16="http://schemas.microsoft.com/office/drawing/2014/main" id="{368ECF3B-E3BF-DE3B-EBB2-62E21F53E5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3644CD-757D-BE5A-05CD-FC27F0F1A237}"/>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1374828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C5476-3952-CD2D-72BB-B91DC59BBC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5CEF53-9859-8B0F-BF17-E4AAB67F2B1B}"/>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4" name="Footer Placeholder 3">
            <a:extLst>
              <a:ext uri="{FF2B5EF4-FFF2-40B4-BE49-F238E27FC236}">
                <a16:creationId xmlns:a16="http://schemas.microsoft.com/office/drawing/2014/main" id="{02DCD488-1E91-3648-5E2D-1356152BE4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03A4F0-933A-8DA6-F35F-027046A6683B}"/>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23438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D5D54D-A097-3B1A-8DFC-EB4E097420CE}"/>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3" name="Footer Placeholder 2">
            <a:extLst>
              <a:ext uri="{FF2B5EF4-FFF2-40B4-BE49-F238E27FC236}">
                <a16:creationId xmlns:a16="http://schemas.microsoft.com/office/drawing/2014/main" id="{AE25BD30-A944-1C70-9EA4-B96CFB7A2C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2B63C8-3683-CF6A-0C76-A9E3C4F5782F}"/>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1187398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BC2C-4CF2-6F76-5DD7-035207D596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816FE3-86EE-5509-CE70-5DA465C336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BCB047-DF45-8E25-CF7F-139A4DDC4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025758-27EF-A8FF-04B5-0151FDADA22A}"/>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6" name="Footer Placeholder 5">
            <a:extLst>
              <a:ext uri="{FF2B5EF4-FFF2-40B4-BE49-F238E27FC236}">
                <a16:creationId xmlns:a16="http://schemas.microsoft.com/office/drawing/2014/main" id="{95143417-AF29-9D7C-9BDF-CE8ED24D47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0D21DC-4A06-2B6C-E0BE-C9BEEA82AD27}"/>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335845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AA651-F640-87B3-6CAC-1981DEC34F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223EBD-1AEC-EB23-FD00-54656466E5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D48F5F-DDB0-D4AD-8EFC-F443EF3B5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B1C6E-DF56-2193-B2B7-47846DAE7D8D}"/>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6" name="Footer Placeholder 5">
            <a:extLst>
              <a:ext uri="{FF2B5EF4-FFF2-40B4-BE49-F238E27FC236}">
                <a16:creationId xmlns:a16="http://schemas.microsoft.com/office/drawing/2014/main" id="{BCB786BC-210C-0F27-1496-40E3ED25ED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0BC969-7D48-054E-336F-505328DB0242}"/>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1990370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A8F32-7894-704D-07A1-070C8228C5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F23714-4555-FCF4-FAA9-3FC8157CB3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7D0C38-255B-10E1-1EFF-B900143A9764}"/>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5" name="Footer Placeholder 4">
            <a:extLst>
              <a:ext uri="{FF2B5EF4-FFF2-40B4-BE49-F238E27FC236}">
                <a16:creationId xmlns:a16="http://schemas.microsoft.com/office/drawing/2014/main" id="{5E0A28C1-5527-CC5B-FDCC-70AB22784F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82F24A-3D9D-6E07-AFA3-E91AE80968D8}"/>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3415556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F92303-E3CD-3866-53F9-EB438B7E3B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D35257-08C3-C851-F6F2-5814E7CB8A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D5C302-491E-D393-4B70-75B541B46F3E}"/>
              </a:ext>
            </a:extLst>
          </p:cNvPr>
          <p:cNvSpPr>
            <a:spLocks noGrp="1"/>
          </p:cNvSpPr>
          <p:nvPr>
            <p:ph type="dt" sz="half" idx="10"/>
          </p:nvPr>
        </p:nvSpPr>
        <p:spPr/>
        <p:txBody>
          <a:bodyPr/>
          <a:lstStyle/>
          <a:p>
            <a:fld id="{421A75FA-7963-4292-B8EE-95D72B9E1D29}" type="datetimeFigureOut">
              <a:rPr lang="en-IN" smtClean="0"/>
              <a:t>06-03-2026</a:t>
            </a:fld>
            <a:endParaRPr lang="en-IN"/>
          </a:p>
        </p:txBody>
      </p:sp>
      <p:sp>
        <p:nvSpPr>
          <p:cNvPr id="5" name="Footer Placeholder 4">
            <a:extLst>
              <a:ext uri="{FF2B5EF4-FFF2-40B4-BE49-F238E27FC236}">
                <a16:creationId xmlns:a16="http://schemas.microsoft.com/office/drawing/2014/main" id="{9C7C5E42-3D81-4E3C-0494-6607D77223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0971CF-8C7F-3908-9B6E-75D7F0C4403E}"/>
              </a:ext>
            </a:extLst>
          </p:cNvPr>
          <p:cNvSpPr>
            <a:spLocks noGrp="1"/>
          </p:cNvSpPr>
          <p:nvPr>
            <p:ph type="sldNum" sz="quarter" idx="12"/>
          </p:nvPr>
        </p:nvSpPr>
        <p:spPr/>
        <p:txBody>
          <a:bodyPr/>
          <a:lstStyle/>
          <a:p>
            <a:fld id="{23D2FC10-9D79-4FCD-8EDD-D7B583CF9601}" type="slidenum">
              <a:rPr lang="en-IN" smtClean="0"/>
              <a:t>‹#›</a:t>
            </a:fld>
            <a:endParaRPr lang="en-IN"/>
          </a:p>
        </p:txBody>
      </p:sp>
    </p:spTree>
    <p:extLst>
      <p:ext uri="{BB962C8B-B14F-4D97-AF65-F5344CB8AC3E}">
        <p14:creationId xmlns:p14="http://schemas.microsoft.com/office/powerpoint/2010/main" val="3096958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E83CD-1B8F-BD97-7697-458C21FD7D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798C62-5809-00EB-6BE3-36B25E9C41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2DB9A0-C7F5-F512-756A-A43AB932BA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1A75FA-7963-4292-B8EE-95D72B9E1D29}" type="datetimeFigureOut">
              <a:rPr lang="en-IN" smtClean="0"/>
              <a:t>06-03-2026</a:t>
            </a:fld>
            <a:endParaRPr lang="en-IN"/>
          </a:p>
        </p:txBody>
      </p:sp>
      <p:sp>
        <p:nvSpPr>
          <p:cNvPr id="5" name="Footer Placeholder 4">
            <a:extLst>
              <a:ext uri="{FF2B5EF4-FFF2-40B4-BE49-F238E27FC236}">
                <a16:creationId xmlns:a16="http://schemas.microsoft.com/office/drawing/2014/main" id="{0D790675-5198-28C2-BB08-D7594ED0CA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F03B3E8-F8F1-EBB4-77F7-1A69B7A571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D2FC10-9D79-4FCD-8EDD-D7B583CF9601}" type="slidenum">
              <a:rPr lang="en-IN" smtClean="0"/>
              <a:t>‹#›</a:t>
            </a:fld>
            <a:endParaRPr lang="en-IN"/>
          </a:p>
        </p:txBody>
      </p:sp>
    </p:spTree>
    <p:extLst>
      <p:ext uri="{BB962C8B-B14F-4D97-AF65-F5344CB8AC3E}">
        <p14:creationId xmlns:p14="http://schemas.microsoft.com/office/powerpoint/2010/main" val="4016642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7568-09E4-95FA-7048-40F1842DE364}"/>
              </a:ext>
            </a:extLst>
          </p:cNvPr>
          <p:cNvSpPr>
            <a:spLocks noGrp="1"/>
          </p:cNvSpPr>
          <p:nvPr>
            <p:ph type="ctrTitle"/>
          </p:nvPr>
        </p:nvSpPr>
        <p:spPr>
          <a:xfrm>
            <a:off x="6096000" y="1532239"/>
            <a:ext cx="3984554" cy="708155"/>
          </a:xfrm>
        </p:spPr>
        <p:txBody>
          <a:bodyPr>
            <a:normAutofit/>
          </a:bodyPr>
          <a:lstStyle/>
          <a:p>
            <a:pPr algn="l"/>
            <a:r>
              <a:rPr lang="en-IN" sz="2400" b="1" dirty="0">
                <a:solidFill>
                  <a:schemeClr val="tx2">
                    <a:lumMod val="75000"/>
                    <a:lumOff val="25000"/>
                  </a:schemeClr>
                </a:solidFill>
              </a:rPr>
              <a:t> REVIEW – PHASE 2</a:t>
            </a:r>
          </a:p>
        </p:txBody>
      </p:sp>
      <p:sp>
        <p:nvSpPr>
          <p:cNvPr id="3" name="Subtitle 2">
            <a:extLst>
              <a:ext uri="{FF2B5EF4-FFF2-40B4-BE49-F238E27FC236}">
                <a16:creationId xmlns:a16="http://schemas.microsoft.com/office/drawing/2014/main" id="{7F7FB6D2-3A25-8239-2A37-C85E4AE611D5}"/>
              </a:ext>
            </a:extLst>
          </p:cNvPr>
          <p:cNvSpPr>
            <a:spLocks noGrp="1"/>
          </p:cNvSpPr>
          <p:nvPr>
            <p:ph type="subTitle" idx="1"/>
          </p:nvPr>
        </p:nvSpPr>
        <p:spPr>
          <a:xfrm>
            <a:off x="363686" y="5489082"/>
            <a:ext cx="3673372" cy="292486"/>
          </a:xfrm>
        </p:spPr>
        <p:txBody>
          <a:bodyPr>
            <a:normAutofit fontScale="92500" lnSpcReduction="20000"/>
          </a:bodyPr>
          <a:lstStyle/>
          <a:p>
            <a:pPr algn="l"/>
            <a:r>
              <a:rPr lang="en-US" sz="1800" b="1" i="1" dirty="0">
                <a:solidFill>
                  <a:schemeClr val="accent5"/>
                </a:solidFill>
              </a:rPr>
              <a:t>PBL BASED FULLSTACK PROJECT</a:t>
            </a:r>
            <a:endParaRPr lang="en-IN" sz="1800" b="1" i="1" dirty="0">
              <a:solidFill>
                <a:schemeClr val="accent5"/>
              </a:solidFill>
            </a:endParaRPr>
          </a:p>
        </p:txBody>
      </p:sp>
      <p:pic>
        <p:nvPicPr>
          <p:cNvPr id="7" name="Picture 6">
            <a:extLst>
              <a:ext uri="{FF2B5EF4-FFF2-40B4-BE49-F238E27FC236}">
                <a16:creationId xmlns:a16="http://schemas.microsoft.com/office/drawing/2014/main" id="{7B2C54B8-78E8-0A1B-84EA-2C7DB788DCC1}"/>
              </a:ext>
            </a:extLst>
          </p:cNvPr>
          <p:cNvPicPr>
            <a:picLocks noChangeAspect="1"/>
          </p:cNvPicPr>
          <p:nvPr/>
        </p:nvPicPr>
        <p:blipFill>
          <a:blip r:embed="rId2"/>
          <a:stretch>
            <a:fillRect/>
          </a:stretch>
        </p:blipFill>
        <p:spPr>
          <a:xfrm>
            <a:off x="6096000" y="2361216"/>
            <a:ext cx="5708649" cy="3667807"/>
          </a:xfrm>
          <a:prstGeom prst="rect">
            <a:avLst/>
          </a:prstGeom>
        </p:spPr>
      </p:pic>
      <p:sp>
        <p:nvSpPr>
          <p:cNvPr id="6" name="Title 1">
            <a:extLst>
              <a:ext uri="{FF2B5EF4-FFF2-40B4-BE49-F238E27FC236}">
                <a16:creationId xmlns:a16="http://schemas.microsoft.com/office/drawing/2014/main" id="{D555EC0B-C047-C688-1F9F-D08CB5BB85BB}"/>
              </a:ext>
            </a:extLst>
          </p:cNvPr>
          <p:cNvSpPr txBox="1">
            <a:spLocks/>
          </p:cNvSpPr>
          <p:nvPr/>
        </p:nvSpPr>
        <p:spPr>
          <a:xfrm>
            <a:off x="509896" y="1174533"/>
            <a:ext cx="4739836" cy="156221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chemeClr val="tx2">
                    <a:lumMod val="75000"/>
                    <a:lumOff val="25000"/>
                  </a:schemeClr>
                </a:solidFill>
              </a:rPr>
              <a:t>DIGITAL PROCESS BENCHMARKING TOOL</a:t>
            </a:r>
          </a:p>
        </p:txBody>
      </p:sp>
      <p:sp>
        <p:nvSpPr>
          <p:cNvPr id="8" name="Subtitle 2">
            <a:extLst>
              <a:ext uri="{FF2B5EF4-FFF2-40B4-BE49-F238E27FC236}">
                <a16:creationId xmlns:a16="http://schemas.microsoft.com/office/drawing/2014/main" id="{33CB6E38-5EA8-01CA-1BC6-B7CE00F7947B}"/>
              </a:ext>
            </a:extLst>
          </p:cNvPr>
          <p:cNvSpPr txBox="1">
            <a:spLocks/>
          </p:cNvSpPr>
          <p:nvPr/>
        </p:nvSpPr>
        <p:spPr>
          <a:xfrm>
            <a:off x="334190" y="5781568"/>
            <a:ext cx="5091249" cy="113684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b="1" dirty="0"/>
              <a:t>DEPT. :    </a:t>
            </a:r>
            <a:r>
              <a:rPr lang="en-IN" sz="1800" dirty="0"/>
              <a:t>ELECTRONICS &amp; COMMUNICATION     	ENGINEERING</a:t>
            </a:r>
          </a:p>
          <a:p>
            <a:pPr algn="l"/>
            <a:r>
              <a:rPr lang="en-IN" sz="1800" b="1" dirty="0"/>
              <a:t>DATE :      </a:t>
            </a:r>
            <a:r>
              <a:rPr lang="en-IN" sz="1800" dirty="0"/>
              <a:t>12/02/2026</a:t>
            </a:r>
          </a:p>
        </p:txBody>
      </p:sp>
      <p:sp>
        <p:nvSpPr>
          <p:cNvPr id="4" name="Subtitle 2">
            <a:extLst>
              <a:ext uri="{FF2B5EF4-FFF2-40B4-BE49-F238E27FC236}">
                <a16:creationId xmlns:a16="http://schemas.microsoft.com/office/drawing/2014/main" id="{FD1A30FB-343C-FE90-311C-D13B47CF0466}"/>
              </a:ext>
            </a:extLst>
          </p:cNvPr>
          <p:cNvSpPr txBox="1">
            <a:spLocks/>
          </p:cNvSpPr>
          <p:nvPr/>
        </p:nvSpPr>
        <p:spPr>
          <a:xfrm>
            <a:off x="1490774" y="3495258"/>
            <a:ext cx="3125337" cy="113684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a:solidFill>
                  <a:schemeClr val="accent4">
                    <a:lumMod val="50000"/>
                  </a:schemeClr>
                </a:solidFill>
              </a:rPr>
              <a:t>PRESENTED BY</a:t>
            </a:r>
          </a:p>
          <a:p>
            <a:r>
              <a:rPr lang="en-IN" sz="1800" b="1"/>
              <a:t>ASHOK J</a:t>
            </a:r>
          </a:p>
          <a:p>
            <a:r>
              <a:rPr lang="en-IN" sz="1800" b="1"/>
              <a:t>[7376241EC502]</a:t>
            </a:r>
            <a:endParaRPr lang="en-IN" sz="1800" b="1" dirty="0"/>
          </a:p>
        </p:txBody>
      </p:sp>
    </p:spTree>
    <p:extLst>
      <p:ext uri="{BB962C8B-B14F-4D97-AF65-F5344CB8AC3E}">
        <p14:creationId xmlns:p14="http://schemas.microsoft.com/office/powerpoint/2010/main" val="678905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F9609-0BD3-A8E0-7F26-3D84129D1F07}"/>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TECH STACK &amp; SYSTEM ARCHITECTURE</a:t>
            </a:r>
          </a:p>
        </p:txBody>
      </p:sp>
      <p:sp>
        <p:nvSpPr>
          <p:cNvPr id="3" name="Content Placeholder 2">
            <a:extLst>
              <a:ext uri="{FF2B5EF4-FFF2-40B4-BE49-F238E27FC236}">
                <a16:creationId xmlns:a16="http://schemas.microsoft.com/office/drawing/2014/main" id="{A76AC9C3-7F0D-DA90-6BDA-40CFB935BEB4}"/>
              </a:ext>
            </a:extLst>
          </p:cNvPr>
          <p:cNvSpPr>
            <a:spLocks noGrp="1"/>
          </p:cNvSpPr>
          <p:nvPr>
            <p:ph idx="1"/>
          </p:nvPr>
        </p:nvSpPr>
        <p:spPr>
          <a:xfrm>
            <a:off x="625642" y="1010652"/>
            <a:ext cx="10728158" cy="5542547"/>
          </a:xfrm>
        </p:spPr>
        <p:txBody>
          <a:bodyPr>
            <a:normAutofit fontScale="92500" lnSpcReduction="20000"/>
          </a:bodyPr>
          <a:lstStyle/>
          <a:p>
            <a:pPr marL="0" indent="0" algn="just">
              <a:buNone/>
            </a:pPr>
            <a:r>
              <a:rPr lang="en-US" dirty="0"/>
              <a:t>This project uses the MERN stack for </a:t>
            </a:r>
            <a:r>
              <a:rPr lang="en-US" dirty="0" err="1"/>
              <a:t>fullstack</a:t>
            </a:r>
            <a:r>
              <a:rPr lang="en-US" dirty="0"/>
              <a:t> web development.</a:t>
            </a:r>
          </a:p>
          <a:p>
            <a:pPr marL="0" indent="0" algn="just">
              <a:buNone/>
            </a:pPr>
            <a:endParaRPr lang="en-US" sz="1900" u="sng" dirty="0"/>
          </a:p>
          <a:p>
            <a:pPr marL="0" indent="0" algn="just">
              <a:buNone/>
            </a:pPr>
            <a:r>
              <a:rPr lang="en-US" u="sng" dirty="0"/>
              <a:t>FRONTEND</a:t>
            </a:r>
          </a:p>
          <a:p>
            <a:pPr algn="just"/>
            <a:r>
              <a:rPr lang="en-US" dirty="0"/>
              <a:t>React.js is used to build the user interface</a:t>
            </a:r>
          </a:p>
          <a:p>
            <a:pPr algn="just"/>
            <a:r>
              <a:rPr lang="en-IN" dirty="0"/>
              <a:t>Provides interactive and dynamic UI</a:t>
            </a:r>
          </a:p>
          <a:p>
            <a:pPr marL="0" indent="0" algn="just">
              <a:buNone/>
            </a:pPr>
            <a:endParaRPr lang="en-IN" sz="1400" u="sng" dirty="0"/>
          </a:p>
          <a:p>
            <a:pPr marL="0" indent="0" algn="just">
              <a:buNone/>
            </a:pPr>
            <a:r>
              <a:rPr lang="en-IN" u="sng" dirty="0"/>
              <a:t>BACKEND</a:t>
            </a:r>
          </a:p>
          <a:p>
            <a:pPr algn="just"/>
            <a:r>
              <a:rPr lang="en-US" dirty="0"/>
              <a:t>Node.js is used as runtime environment</a:t>
            </a:r>
          </a:p>
          <a:p>
            <a:pPr algn="just"/>
            <a:r>
              <a:rPr lang="en-US" dirty="0"/>
              <a:t>Express.js is used to create APIs</a:t>
            </a:r>
          </a:p>
          <a:p>
            <a:pPr marL="0" indent="0" algn="just">
              <a:buNone/>
            </a:pPr>
            <a:endParaRPr lang="en-US" sz="1400" u="sng" dirty="0"/>
          </a:p>
          <a:p>
            <a:pPr marL="0" indent="0" algn="just">
              <a:buNone/>
            </a:pPr>
            <a:r>
              <a:rPr lang="en-US" u="sng" dirty="0"/>
              <a:t>DATABASE</a:t>
            </a:r>
          </a:p>
          <a:p>
            <a:pPr algn="just"/>
            <a:r>
              <a:rPr lang="en-US" dirty="0"/>
              <a:t>MongoDB is used to store user and benchmarking data</a:t>
            </a:r>
          </a:p>
          <a:p>
            <a:pPr marL="0" indent="0" algn="just">
              <a:buNone/>
            </a:pPr>
            <a:endParaRPr lang="en-US" sz="1900" u="sng" dirty="0"/>
          </a:p>
          <a:p>
            <a:pPr marL="0" indent="0" algn="just">
              <a:buNone/>
            </a:pPr>
            <a:r>
              <a:rPr lang="en-US" dirty="0"/>
              <a:t>This stack provides scalability, flexibility, and fast performance.</a:t>
            </a:r>
          </a:p>
        </p:txBody>
      </p:sp>
    </p:spTree>
    <p:extLst>
      <p:ext uri="{BB962C8B-B14F-4D97-AF65-F5344CB8AC3E}">
        <p14:creationId xmlns:p14="http://schemas.microsoft.com/office/powerpoint/2010/main" val="1238635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E2FEE-D938-47FF-7138-A9186762C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40421-8B69-8791-9171-CF6638167DC2}"/>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ARCHITECTURE DIAGRAM</a:t>
            </a:r>
          </a:p>
        </p:txBody>
      </p:sp>
      <p:sp>
        <p:nvSpPr>
          <p:cNvPr id="3" name="Content Placeholder 2">
            <a:extLst>
              <a:ext uri="{FF2B5EF4-FFF2-40B4-BE49-F238E27FC236}">
                <a16:creationId xmlns:a16="http://schemas.microsoft.com/office/drawing/2014/main" id="{0BB9AF49-4707-3B71-528F-28D9F6295AA0}"/>
              </a:ext>
            </a:extLst>
          </p:cNvPr>
          <p:cNvSpPr>
            <a:spLocks noGrp="1"/>
          </p:cNvSpPr>
          <p:nvPr>
            <p:ph idx="1"/>
          </p:nvPr>
        </p:nvSpPr>
        <p:spPr>
          <a:xfrm>
            <a:off x="625642" y="2727158"/>
            <a:ext cx="10728158" cy="3826042"/>
          </a:xfrm>
        </p:spPr>
        <p:txBody>
          <a:bodyPr>
            <a:normAutofit/>
          </a:bodyPr>
          <a:lstStyle/>
          <a:p>
            <a:pPr marL="0" indent="0">
              <a:buNone/>
            </a:pPr>
            <a:r>
              <a:rPr lang="en-IN" b="1" u="sng" dirty="0"/>
              <a:t>Explanation:</a:t>
            </a:r>
          </a:p>
          <a:p>
            <a:pPr marL="0" indent="0">
              <a:buNone/>
            </a:pPr>
            <a:endParaRPr lang="en-IN" sz="300" b="1" u="sng" dirty="0"/>
          </a:p>
          <a:p>
            <a:pPr marL="0" indent="0">
              <a:buNone/>
            </a:pPr>
            <a:r>
              <a:rPr lang="en-IN" dirty="0"/>
              <a:t>• User enters benchmarking data in frontend</a:t>
            </a:r>
            <a:br>
              <a:rPr lang="en-IN" dirty="0"/>
            </a:br>
            <a:r>
              <a:rPr lang="en-IN" dirty="0"/>
              <a:t>• Frontend sends data to backend through API</a:t>
            </a:r>
            <a:br>
              <a:rPr lang="en-IN" dirty="0"/>
            </a:br>
            <a:r>
              <a:rPr lang="en-IN" dirty="0"/>
              <a:t>• Backend processes data</a:t>
            </a:r>
            <a:br>
              <a:rPr lang="en-IN" dirty="0"/>
            </a:br>
            <a:r>
              <a:rPr lang="en-IN" dirty="0"/>
              <a:t>• Backend stores data in MongoDB database</a:t>
            </a:r>
            <a:br>
              <a:rPr lang="en-IN" dirty="0"/>
            </a:br>
            <a:r>
              <a:rPr lang="en-IN" dirty="0"/>
              <a:t>• Backend calculates benchmarking score</a:t>
            </a:r>
            <a:br>
              <a:rPr lang="en-IN" dirty="0"/>
            </a:br>
            <a:r>
              <a:rPr lang="en-IN" dirty="0"/>
              <a:t>• Results sent back to frontend</a:t>
            </a:r>
            <a:br>
              <a:rPr lang="en-IN" dirty="0"/>
            </a:br>
            <a:r>
              <a:rPr lang="en-IN" dirty="0"/>
              <a:t>• Frontend displays results in dashboard</a:t>
            </a:r>
          </a:p>
        </p:txBody>
      </p:sp>
      <p:pic>
        <p:nvPicPr>
          <p:cNvPr id="5" name="Picture 4">
            <a:extLst>
              <a:ext uri="{FF2B5EF4-FFF2-40B4-BE49-F238E27FC236}">
                <a16:creationId xmlns:a16="http://schemas.microsoft.com/office/drawing/2014/main" id="{0A55B1C6-2094-EA3A-C284-4EFB0614ECDA}"/>
              </a:ext>
            </a:extLst>
          </p:cNvPr>
          <p:cNvPicPr>
            <a:picLocks noChangeAspect="1"/>
          </p:cNvPicPr>
          <p:nvPr/>
        </p:nvPicPr>
        <p:blipFill>
          <a:blip r:embed="rId2"/>
          <a:stretch>
            <a:fillRect/>
          </a:stretch>
        </p:blipFill>
        <p:spPr>
          <a:xfrm>
            <a:off x="1176863" y="689812"/>
            <a:ext cx="9838273" cy="1585097"/>
          </a:xfrm>
          <a:prstGeom prst="rect">
            <a:avLst/>
          </a:prstGeom>
        </p:spPr>
      </p:pic>
    </p:spTree>
    <p:extLst>
      <p:ext uri="{BB962C8B-B14F-4D97-AF65-F5344CB8AC3E}">
        <p14:creationId xmlns:p14="http://schemas.microsoft.com/office/powerpoint/2010/main" val="1464055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B9ED2-A4E3-85BF-EEFC-078D897BB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9A83B-C8EF-E74A-9F0E-7BC929107D6E}"/>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DB SCHEMA &amp; ENTITY DESIGN</a:t>
            </a:r>
          </a:p>
        </p:txBody>
      </p:sp>
      <p:sp>
        <p:nvSpPr>
          <p:cNvPr id="3" name="Content Placeholder 2">
            <a:extLst>
              <a:ext uri="{FF2B5EF4-FFF2-40B4-BE49-F238E27FC236}">
                <a16:creationId xmlns:a16="http://schemas.microsoft.com/office/drawing/2014/main" id="{C29F7065-51A3-D505-5B85-2043CF429397}"/>
              </a:ext>
            </a:extLst>
          </p:cNvPr>
          <p:cNvSpPr>
            <a:spLocks noGrp="1"/>
          </p:cNvSpPr>
          <p:nvPr>
            <p:ph idx="1"/>
          </p:nvPr>
        </p:nvSpPr>
        <p:spPr>
          <a:xfrm>
            <a:off x="625642" y="882316"/>
            <a:ext cx="10728158" cy="5670884"/>
          </a:xfrm>
        </p:spPr>
        <p:txBody>
          <a:bodyPr>
            <a:normAutofit fontScale="92500" lnSpcReduction="10000"/>
          </a:bodyPr>
          <a:lstStyle/>
          <a:p>
            <a:pPr marL="0" indent="0">
              <a:buNone/>
            </a:pPr>
            <a:r>
              <a:rPr lang="en-IN" dirty="0"/>
              <a:t>MongoDB is used as the database.</a:t>
            </a:r>
          </a:p>
          <a:p>
            <a:pPr marL="0" indent="0">
              <a:buNone/>
            </a:pPr>
            <a:endParaRPr lang="en-IN" sz="100" dirty="0"/>
          </a:p>
          <a:p>
            <a:pPr marL="0" indent="0">
              <a:buNone/>
            </a:pPr>
            <a:r>
              <a:rPr lang="en-IN" u="sng" dirty="0"/>
              <a:t>Main Entities:</a:t>
            </a:r>
          </a:p>
          <a:p>
            <a:pPr marL="0" indent="0">
              <a:buNone/>
            </a:pPr>
            <a:r>
              <a:rPr lang="en-IN" dirty="0"/>
              <a:t>1. User Entity:</a:t>
            </a:r>
            <a:br>
              <a:rPr lang="en-IN" dirty="0"/>
            </a:br>
            <a:r>
              <a:rPr lang="en-IN" dirty="0"/>
              <a:t>    • </a:t>
            </a:r>
            <a:r>
              <a:rPr lang="en-IN" dirty="0" err="1"/>
              <a:t>userId</a:t>
            </a:r>
            <a:br>
              <a:rPr lang="en-IN" dirty="0"/>
            </a:br>
            <a:r>
              <a:rPr lang="en-IN" dirty="0"/>
              <a:t>    • name</a:t>
            </a:r>
            <a:br>
              <a:rPr lang="en-IN" dirty="0"/>
            </a:br>
            <a:r>
              <a:rPr lang="en-IN" dirty="0"/>
              <a:t>    • email</a:t>
            </a:r>
          </a:p>
          <a:p>
            <a:pPr marL="0" indent="0">
              <a:buNone/>
            </a:pPr>
            <a:r>
              <a:rPr lang="en-IN" dirty="0"/>
              <a:t>2. Benchmark Entity:</a:t>
            </a:r>
            <a:br>
              <a:rPr lang="en-IN" dirty="0"/>
            </a:br>
            <a:r>
              <a:rPr lang="en-IN" dirty="0"/>
              <a:t>   • </a:t>
            </a:r>
            <a:r>
              <a:rPr lang="en-IN" dirty="0" err="1"/>
              <a:t>benchmarkId</a:t>
            </a:r>
            <a:br>
              <a:rPr lang="en-IN" dirty="0"/>
            </a:br>
            <a:r>
              <a:rPr lang="en-IN" dirty="0"/>
              <a:t>   • </a:t>
            </a:r>
            <a:r>
              <a:rPr lang="en-IN" dirty="0" err="1"/>
              <a:t>processName</a:t>
            </a:r>
            <a:br>
              <a:rPr lang="en-IN" dirty="0"/>
            </a:br>
            <a:r>
              <a:rPr lang="en-IN" dirty="0"/>
              <a:t>   • </a:t>
            </a:r>
            <a:r>
              <a:rPr lang="en-IN" dirty="0" err="1"/>
              <a:t>userScore</a:t>
            </a:r>
            <a:br>
              <a:rPr lang="en-IN" dirty="0"/>
            </a:br>
            <a:r>
              <a:rPr lang="en-IN" dirty="0"/>
              <a:t>   • </a:t>
            </a:r>
            <a:r>
              <a:rPr lang="en-IN" dirty="0" err="1"/>
              <a:t>benchmarkScore</a:t>
            </a:r>
            <a:br>
              <a:rPr lang="en-IN" dirty="0"/>
            </a:br>
            <a:r>
              <a:rPr lang="en-IN" dirty="0"/>
              <a:t>   • result</a:t>
            </a:r>
          </a:p>
          <a:p>
            <a:pPr marL="0" indent="0">
              <a:buNone/>
            </a:pPr>
            <a:r>
              <a:rPr lang="en-IN" u="sng" dirty="0"/>
              <a:t>Relationship:</a:t>
            </a:r>
            <a:br>
              <a:rPr lang="en-IN" dirty="0"/>
            </a:br>
            <a:r>
              <a:rPr lang="en-IN" dirty="0"/>
              <a:t>	User provides benchmarking data, which is stored and compared with benchmark values.</a:t>
            </a:r>
          </a:p>
          <a:p>
            <a:pPr marL="0" indent="0">
              <a:buNone/>
            </a:pPr>
            <a:endParaRPr lang="en-IN" dirty="0"/>
          </a:p>
        </p:txBody>
      </p:sp>
    </p:spTree>
    <p:extLst>
      <p:ext uri="{BB962C8B-B14F-4D97-AF65-F5344CB8AC3E}">
        <p14:creationId xmlns:p14="http://schemas.microsoft.com/office/powerpoint/2010/main" val="445986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F12E4-C3B4-C0B1-8BA2-A0B8C0518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E0CC7-3812-7E1F-B5AD-F57EF0FDCC02}"/>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DATABASE STRUCTURE</a:t>
            </a:r>
          </a:p>
        </p:txBody>
      </p:sp>
      <p:sp>
        <p:nvSpPr>
          <p:cNvPr id="3" name="Content Placeholder 2">
            <a:extLst>
              <a:ext uri="{FF2B5EF4-FFF2-40B4-BE49-F238E27FC236}">
                <a16:creationId xmlns:a16="http://schemas.microsoft.com/office/drawing/2014/main" id="{036D393A-9EA1-7C3B-7BCA-7BA240490DD1}"/>
              </a:ext>
            </a:extLst>
          </p:cNvPr>
          <p:cNvSpPr>
            <a:spLocks noGrp="1"/>
          </p:cNvSpPr>
          <p:nvPr>
            <p:ph idx="1"/>
          </p:nvPr>
        </p:nvSpPr>
        <p:spPr>
          <a:xfrm>
            <a:off x="625642" y="1155032"/>
            <a:ext cx="10728158" cy="5398168"/>
          </a:xfrm>
        </p:spPr>
        <p:txBody>
          <a:bodyPr>
            <a:normAutofit/>
          </a:bodyPr>
          <a:lstStyle/>
          <a:p>
            <a:pPr marL="0" indent="0">
              <a:buNone/>
            </a:pPr>
            <a:r>
              <a:rPr lang="en-IN" u="sng" dirty="0"/>
              <a:t>Collections used:</a:t>
            </a:r>
          </a:p>
          <a:p>
            <a:pPr marL="0" indent="0">
              <a:buNone/>
            </a:pPr>
            <a:endParaRPr lang="en-IN" sz="700" u="sng" dirty="0"/>
          </a:p>
          <a:p>
            <a:pPr marL="514350" indent="-514350">
              <a:buAutoNum type="arabicPeriod"/>
            </a:pPr>
            <a:r>
              <a:rPr lang="en-IN" dirty="0"/>
              <a:t>Users Collection</a:t>
            </a:r>
            <a:br>
              <a:rPr lang="en-IN" dirty="0"/>
            </a:br>
            <a:r>
              <a:rPr lang="en-IN" dirty="0"/>
              <a:t>     </a:t>
            </a:r>
            <a:r>
              <a:rPr lang="en-IN" sz="1600" dirty="0"/>
              <a:t>•</a:t>
            </a:r>
            <a:r>
              <a:rPr lang="en-IN" dirty="0"/>
              <a:t> Stores user details</a:t>
            </a:r>
          </a:p>
          <a:p>
            <a:pPr marL="514350" indent="-514350">
              <a:buAutoNum type="arabicPeriod"/>
            </a:pPr>
            <a:endParaRPr lang="en-IN" sz="1000" dirty="0"/>
          </a:p>
          <a:p>
            <a:pPr marL="0" indent="0">
              <a:buNone/>
            </a:pPr>
            <a:r>
              <a:rPr lang="en-IN" dirty="0"/>
              <a:t>2. Benchmark Collection</a:t>
            </a:r>
            <a:br>
              <a:rPr lang="en-IN" dirty="0"/>
            </a:br>
            <a:r>
              <a:rPr lang="en-IN" dirty="0"/>
              <a:t>     </a:t>
            </a:r>
            <a:r>
              <a:rPr lang="en-IN" sz="1800" dirty="0"/>
              <a:t>•</a:t>
            </a:r>
            <a:r>
              <a:rPr lang="en-IN" dirty="0"/>
              <a:t> Stores process scores</a:t>
            </a:r>
            <a:br>
              <a:rPr lang="en-IN" dirty="0"/>
            </a:br>
            <a:r>
              <a:rPr lang="en-IN" dirty="0"/>
              <a:t>     </a:t>
            </a:r>
            <a:r>
              <a:rPr lang="en-IN" sz="1800" dirty="0"/>
              <a:t>•</a:t>
            </a:r>
            <a:r>
              <a:rPr lang="en-IN" dirty="0"/>
              <a:t> Stores benchmark comparison</a:t>
            </a:r>
          </a:p>
          <a:p>
            <a:pPr marL="0" indent="0">
              <a:buNone/>
            </a:pPr>
            <a:endParaRPr lang="en-IN" dirty="0"/>
          </a:p>
          <a:p>
            <a:pPr marL="0" indent="0">
              <a:buNone/>
            </a:pPr>
            <a:r>
              <a:rPr lang="en-IN" dirty="0"/>
              <a:t>This structure ensures efficient data storage and retrieval.</a:t>
            </a:r>
          </a:p>
          <a:p>
            <a:pPr marL="0" indent="0">
              <a:buNone/>
            </a:pPr>
            <a:endParaRPr lang="en-IN" dirty="0"/>
          </a:p>
        </p:txBody>
      </p:sp>
    </p:spTree>
    <p:extLst>
      <p:ext uri="{BB962C8B-B14F-4D97-AF65-F5344CB8AC3E}">
        <p14:creationId xmlns:p14="http://schemas.microsoft.com/office/powerpoint/2010/main" val="1475800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713E8-02F0-D52F-522F-46179524F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6991F-4B01-824D-C2BB-F94A381EBF57}"/>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UI/UX WIREFRAMES &amp; THEME</a:t>
            </a:r>
          </a:p>
        </p:txBody>
      </p:sp>
      <p:sp>
        <p:nvSpPr>
          <p:cNvPr id="3" name="Content Placeholder 2">
            <a:extLst>
              <a:ext uri="{FF2B5EF4-FFF2-40B4-BE49-F238E27FC236}">
                <a16:creationId xmlns:a16="http://schemas.microsoft.com/office/drawing/2014/main" id="{0EB2F57B-5ACD-43E5-F5AB-58A50957095C}"/>
              </a:ext>
            </a:extLst>
          </p:cNvPr>
          <p:cNvSpPr>
            <a:spLocks noGrp="1"/>
          </p:cNvSpPr>
          <p:nvPr>
            <p:ph idx="1"/>
          </p:nvPr>
        </p:nvSpPr>
        <p:spPr>
          <a:xfrm>
            <a:off x="625642" y="882316"/>
            <a:ext cx="10728158" cy="5670884"/>
          </a:xfrm>
        </p:spPr>
        <p:txBody>
          <a:bodyPr>
            <a:normAutofit/>
          </a:bodyPr>
          <a:lstStyle/>
          <a:p>
            <a:pPr marL="0" indent="0">
              <a:buNone/>
            </a:pPr>
            <a:r>
              <a:rPr lang="en-US" dirty="0"/>
              <a:t>Wireframes were designed to plan the user interface.</a:t>
            </a:r>
            <a:endParaRPr lang="en-IN" sz="100" dirty="0"/>
          </a:p>
          <a:p>
            <a:pPr marL="0" indent="0">
              <a:buNone/>
            </a:pPr>
            <a:r>
              <a:rPr lang="en-IN" u="sng" dirty="0"/>
              <a:t>Main Screens:</a:t>
            </a:r>
          </a:p>
          <a:p>
            <a:pPr marL="0" indent="0">
              <a:buNone/>
            </a:pPr>
            <a:r>
              <a:rPr lang="en-US" sz="1800" dirty="0"/>
              <a:t>    •</a:t>
            </a:r>
            <a:r>
              <a:rPr lang="en-US" sz="2400" dirty="0"/>
              <a:t> Home Page</a:t>
            </a:r>
            <a:br>
              <a:rPr lang="en-US" sz="2400" dirty="0"/>
            </a:br>
            <a:r>
              <a:rPr lang="en-US" sz="2400" dirty="0"/>
              <a:t>   </a:t>
            </a:r>
            <a:r>
              <a:rPr lang="en-US" sz="1800" dirty="0"/>
              <a:t>•</a:t>
            </a:r>
            <a:r>
              <a:rPr lang="en-US" sz="2400" dirty="0"/>
              <a:t> Data Entry Form</a:t>
            </a:r>
            <a:br>
              <a:rPr lang="en-US" sz="2400" dirty="0"/>
            </a:br>
            <a:r>
              <a:rPr lang="en-US" sz="2400" dirty="0"/>
              <a:t>   </a:t>
            </a:r>
            <a:r>
              <a:rPr lang="en-US" sz="1800" dirty="0"/>
              <a:t>•</a:t>
            </a:r>
            <a:r>
              <a:rPr lang="en-US" sz="2400" dirty="0"/>
              <a:t> Dashboard Page</a:t>
            </a:r>
            <a:br>
              <a:rPr lang="en-US" sz="2400" dirty="0"/>
            </a:br>
            <a:r>
              <a:rPr lang="en-US" sz="2400" dirty="0"/>
              <a:t>   </a:t>
            </a:r>
            <a:r>
              <a:rPr lang="en-US" sz="1800" dirty="0"/>
              <a:t>•</a:t>
            </a:r>
            <a:r>
              <a:rPr lang="en-US" sz="2400" dirty="0"/>
              <a:t> Result Display Page</a:t>
            </a:r>
            <a:endParaRPr lang="en-IN" sz="2400" u="sng" dirty="0"/>
          </a:p>
          <a:p>
            <a:pPr marL="0" indent="0">
              <a:buNone/>
            </a:pPr>
            <a:r>
              <a:rPr lang="en-IN" u="sng" dirty="0"/>
              <a:t>Theme:</a:t>
            </a:r>
          </a:p>
          <a:p>
            <a:pPr marL="0" indent="0">
              <a:buNone/>
            </a:pPr>
            <a:r>
              <a:rPr lang="en-US" sz="1800" dirty="0"/>
              <a:t>    •</a:t>
            </a:r>
            <a:r>
              <a:rPr lang="en-US" sz="2400" dirty="0"/>
              <a:t> Simple and professional design</a:t>
            </a:r>
            <a:br>
              <a:rPr lang="en-US" sz="2400" dirty="0"/>
            </a:br>
            <a:r>
              <a:rPr lang="en-US" sz="2400" dirty="0"/>
              <a:t>   </a:t>
            </a:r>
            <a:r>
              <a:rPr lang="en-US" sz="1800" dirty="0"/>
              <a:t>•</a:t>
            </a:r>
            <a:r>
              <a:rPr lang="en-US" sz="2400" dirty="0"/>
              <a:t> Easy navigation</a:t>
            </a:r>
            <a:br>
              <a:rPr lang="en-US" sz="2400" dirty="0"/>
            </a:br>
            <a:r>
              <a:rPr lang="en-US" sz="2400" dirty="0"/>
              <a:t>   </a:t>
            </a:r>
            <a:r>
              <a:rPr lang="en-US" sz="1800" dirty="0"/>
              <a:t>•</a:t>
            </a:r>
            <a:r>
              <a:rPr lang="en-US" sz="2400" dirty="0"/>
              <a:t> User-friendly interface</a:t>
            </a:r>
          </a:p>
          <a:p>
            <a:pPr marL="0" indent="0">
              <a:buNone/>
            </a:pPr>
            <a:endParaRPr lang="en-US" sz="700" dirty="0"/>
          </a:p>
          <a:p>
            <a:pPr marL="0" indent="0">
              <a:buNone/>
            </a:pPr>
            <a:r>
              <a:rPr lang="en-US" dirty="0"/>
              <a:t>Wireframes help visualize the system </a:t>
            </a:r>
          </a:p>
          <a:p>
            <a:pPr marL="0" indent="0">
              <a:buNone/>
            </a:pPr>
            <a:r>
              <a:rPr lang="en-US" dirty="0"/>
              <a:t>before development.</a:t>
            </a:r>
            <a:endParaRPr lang="en-IN" dirty="0"/>
          </a:p>
        </p:txBody>
      </p:sp>
      <p:pic>
        <p:nvPicPr>
          <p:cNvPr id="1028" name="Picture 4">
            <a:extLst>
              <a:ext uri="{FF2B5EF4-FFF2-40B4-BE49-F238E27FC236}">
                <a16:creationId xmlns:a16="http://schemas.microsoft.com/office/drawing/2014/main" id="{49F36BBA-014B-7A7F-B6D0-B5C8F0579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1032" y="4058653"/>
            <a:ext cx="4940968" cy="279934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F8A32C0-7CAB-7FF8-B313-B8D16F227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032" y="1443789"/>
            <a:ext cx="4940968" cy="261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22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1664C-4356-7346-CEE6-7CF689258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92D72-8A53-32A6-E026-C85D227D8C22}"/>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PROJECT BOILERPLATE SETUP</a:t>
            </a:r>
          </a:p>
        </p:txBody>
      </p:sp>
      <p:sp>
        <p:nvSpPr>
          <p:cNvPr id="3" name="Content Placeholder 2">
            <a:extLst>
              <a:ext uri="{FF2B5EF4-FFF2-40B4-BE49-F238E27FC236}">
                <a16:creationId xmlns:a16="http://schemas.microsoft.com/office/drawing/2014/main" id="{783A4689-C39D-9B03-0947-CC96267F8A93}"/>
              </a:ext>
            </a:extLst>
          </p:cNvPr>
          <p:cNvSpPr>
            <a:spLocks noGrp="1"/>
          </p:cNvSpPr>
          <p:nvPr>
            <p:ph idx="1"/>
          </p:nvPr>
        </p:nvSpPr>
        <p:spPr>
          <a:xfrm>
            <a:off x="625642" y="882316"/>
            <a:ext cx="10728158" cy="5670884"/>
          </a:xfrm>
        </p:spPr>
        <p:txBody>
          <a:bodyPr>
            <a:normAutofit fontScale="92500" lnSpcReduction="10000"/>
          </a:bodyPr>
          <a:lstStyle/>
          <a:p>
            <a:pPr marL="0" indent="0">
              <a:buNone/>
            </a:pPr>
            <a:r>
              <a:rPr lang="en-IN" dirty="0"/>
              <a:t>Project structure created using </a:t>
            </a:r>
            <a:r>
              <a:rPr lang="en-IN" u="sng" dirty="0"/>
              <a:t>MERN</a:t>
            </a:r>
            <a:r>
              <a:rPr lang="en-IN" dirty="0"/>
              <a:t> stack.</a:t>
            </a:r>
          </a:p>
          <a:p>
            <a:pPr marL="0" indent="0">
              <a:buNone/>
            </a:pPr>
            <a:r>
              <a:rPr lang="en-IN" dirty="0"/>
              <a:t>1. </a:t>
            </a:r>
            <a:r>
              <a:rPr lang="en-IN" u="sng" dirty="0"/>
              <a:t>Frontend setup:</a:t>
            </a:r>
          </a:p>
          <a:p>
            <a:pPr marL="0" indent="0">
              <a:buNone/>
            </a:pPr>
            <a:r>
              <a:rPr lang="en-IN" sz="2000" dirty="0"/>
              <a:t>    •</a:t>
            </a:r>
            <a:r>
              <a:rPr lang="en-IN" dirty="0"/>
              <a:t> React.js project initialized</a:t>
            </a:r>
            <a:br>
              <a:rPr lang="en-IN" dirty="0"/>
            </a:br>
            <a:r>
              <a:rPr lang="en-IN" dirty="0"/>
              <a:t>   </a:t>
            </a:r>
            <a:r>
              <a:rPr lang="en-IN" sz="2000" dirty="0"/>
              <a:t>•</a:t>
            </a:r>
            <a:r>
              <a:rPr lang="en-IN" dirty="0"/>
              <a:t> Folder structure created</a:t>
            </a:r>
          </a:p>
          <a:p>
            <a:pPr marL="0" indent="0">
              <a:buNone/>
            </a:pPr>
            <a:endParaRPr lang="en-IN" sz="100" dirty="0"/>
          </a:p>
          <a:p>
            <a:pPr marL="0" indent="0">
              <a:buNone/>
            </a:pPr>
            <a:r>
              <a:rPr lang="en-IN" dirty="0"/>
              <a:t>2. </a:t>
            </a:r>
            <a:r>
              <a:rPr lang="en-IN" u="sng" dirty="0"/>
              <a:t>Backend setup:</a:t>
            </a:r>
            <a:br>
              <a:rPr lang="en-IN" dirty="0"/>
            </a:br>
            <a:r>
              <a:rPr lang="en-IN" dirty="0"/>
              <a:t>   </a:t>
            </a:r>
            <a:r>
              <a:rPr lang="en-IN" sz="2000" dirty="0"/>
              <a:t>•</a:t>
            </a:r>
            <a:r>
              <a:rPr lang="en-IN" dirty="0"/>
              <a:t> Node.js project initialized</a:t>
            </a:r>
            <a:br>
              <a:rPr lang="en-IN" dirty="0"/>
            </a:br>
            <a:r>
              <a:rPr lang="en-IN" dirty="0"/>
              <a:t>   </a:t>
            </a:r>
            <a:r>
              <a:rPr lang="en-IN" sz="2000" dirty="0"/>
              <a:t>•</a:t>
            </a:r>
            <a:r>
              <a:rPr lang="en-IN" dirty="0"/>
              <a:t> Express server created</a:t>
            </a:r>
          </a:p>
          <a:p>
            <a:pPr marL="0" indent="0">
              <a:buNone/>
            </a:pPr>
            <a:endParaRPr lang="en-IN" sz="100" dirty="0"/>
          </a:p>
          <a:p>
            <a:pPr marL="0" indent="0">
              <a:buNone/>
            </a:pPr>
            <a:r>
              <a:rPr lang="en-IN" dirty="0"/>
              <a:t>3. </a:t>
            </a:r>
            <a:r>
              <a:rPr lang="en-IN" u="sng" dirty="0"/>
              <a:t>Database setup:</a:t>
            </a:r>
            <a:br>
              <a:rPr lang="en-IN" dirty="0"/>
            </a:br>
            <a:r>
              <a:rPr lang="en-IN" dirty="0"/>
              <a:t>   </a:t>
            </a:r>
            <a:r>
              <a:rPr lang="en-IN" sz="2000" dirty="0"/>
              <a:t>•</a:t>
            </a:r>
            <a:r>
              <a:rPr lang="en-IN" dirty="0"/>
              <a:t> MongoDB connected</a:t>
            </a:r>
          </a:p>
          <a:p>
            <a:pPr marL="0" indent="0">
              <a:buNone/>
            </a:pPr>
            <a:endParaRPr lang="en-IN" sz="100" dirty="0"/>
          </a:p>
          <a:p>
            <a:pPr marL="0" indent="0">
              <a:buNone/>
            </a:pPr>
            <a:r>
              <a:rPr lang="en-IN" dirty="0"/>
              <a:t>Folder structure includes:</a:t>
            </a:r>
          </a:p>
          <a:p>
            <a:pPr marL="0" indent="0">
              <a:buNone/>
            </a:pPr>
            <a:r>
              <a:rPr lang="en-IN" sz="2000" dirty="0"/>
              <a:t>    •</a:t>
            </a:r>
            <a:r>
              <a:rPr lang="en-IN" dirty="0"/>
              <a:t> frontend folder</a:t>
            </a:r>
            <a:br>
              <a:rPr lang="en-IN" dirty="0"/>
            </a:br>
            <a:r>
              <a:rPr lang="en-IN" dirty="0"/>
              <a:t>   </a:t>
            </a:r>
            <a:r>
              <a:rPr lang="en-IN" sz="2000" dirty="0"/>
              <a:t>•</a:t>
            </a:r>
            <a:r>
              <a:rPr lang="en-IN" dirty="0"/>
              <a:t> backend folder</a:t>
            </a:r>
            <a:br>
              <a:rPr lang="en-IN" dirty="0"/>
            </a:br>
            <a:r>
              <a:rPr lang="en-IN" dirty="0"/>
              <a:t>   </a:t>
            </a:r>
            <a:r>
              <a:rPr lang="en-IN" sz="2000" dirty="0"/>
              <a:t>•</a:t>
            </a:r>
            <a:r>
              <a:rPr lang="en-IN" dirty="0"/>
              <a:t> database connection</a:t>
            </a:r>
          </a:p>
        </p:txBody>
      </p:sp>
    </p:spTree>
    <p:extLst>
      <p:ext uri="{BB962C8B-B14F-4D97-AF65-F5344CB8AC3E}">
        <p14:creationId xmlns:p14="http://schemas.microsoft.com/office/powerpoint/2010/main" val="1963498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139E6-2C34-E6EE-A2E2-31341BB52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E5302-24A0-5F85-B514-E2C761AF4B10}"/>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PROJECT FOLDER STRUCTURE</a:t>
            </a:r>
          </a:p>
        </p:txBody>
      </p:sp>
      <p:pic>
        <p:nvPicPr>
          <p:cNvPr id="2050" name="Picture 2" descr="node.js - How to organise file structure of backend and frontend in MERN -  Stack Overflow">
            <a:extLst>
              <a:ext uri="{FF2B5EF4-FFF2-40B4-BE49-F238E27FC236}">
                <a16:creationId xmlns:a16="http://schemas.microsoft.com/office/drawing/2014/main" id="{CF7E3B7B-F32A-5C38-1928-3D66519EC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8927" y="689812"/>
            <a:ext cx="5265456" cy="22619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CDD4D6-6CDD-93EE-5317-1CDE818BA17F}"/>
              </a:ext>
            </a:extLst>
          </p:cNvPr>
          <p:cNvPicPr>
            <a:picLocks noChangeAspect="1"/>
          </p:cNvPicPr>
          <p:nvPr/>
        </p:nvPicPr>
        <p:blipFill>
          <a:blip r:embed="rId3"/>
          <a:srcRect t="-4821" r="22468" b="1"/>
          <a:stretch>
            <a:fillRect/>
          </a:stretch>
        </p:blipFill>
        <p:spPr>
          <a:xfrm>
            <a:off x="477617" y="1615780"/>
            <a:ext cx="4238762" cy="1030461"/>
          </a:xfrm>
          <a:prstGeom prst="rect">
            <a:avLst/>
          </a:prstGeom>
        </p:spPr>
      </p:pic>
      <p:pic>
        <p:nvPicPr>
          <p:cNvPr id="7" name="Picture 6">
            <a:extLst>
              <a:ext uri="{FF2B5EF4-FFF2-40B4-BE49-F238E27FC236}">
                <a16:creationId xmlns:a16="http://schemas.microsoft.com/office/drawing/2014/main" id="{FC229538-348D-9304-64AA-47A22AE99319}"/>
              </a:ext>
            </a:extLst>
          </p:cNvPr>
          <p:cNvPicPr>
            <a:picLocks noChangeAspect="1"/>
          </p:cNvPicPr>
          <p:nvPr/>
        </p:nvPicPr>
        <p:blipFill>
          <a:blip r:embed="rId4"/>
          <a:srcRect r="42881"/>
          <a:stretch>
            <a:fillRect/>
          </a:stretch>
        </p:blipFill>
        <p:spPr>
          <a:xfrm>
            <a:off x="414904" y="3575983"/>
            <a:ext cx="3852296" cy="2415749"/>
          </a:xfrm>
          <a:prstGeom prst="rect">
            <a:avLst/>
          </a:prstGeom>
        </p:spPr>
      </p:pic>
      <p:pic>
        <p:nvPicPr>
          <p:cNvPr id="9" name="Picture 8">
            <a:extLst>
              <a:ext uri="{FF2B5EF4-FFF2-40B4-BE49-F238E27FC236}">
                <a16:creationId xmlns:a16="http://schemas.microsoft.com/office/drawing/2014/main" id="{0EF7B7C9-0E8C-E75A-FB48-E852BE56FB8C}"/>
              </a:ext>
            </a:extLst>
          </p:cNvPr>
          <p:cNvPicPr>
            <a:picLocks noChangeAspect="1"/>
          </p:cNvPicPr>
          <p:nvPr/>
        </p:nvPicPr>
        <p:blipFill>
          <a:blip r:embed="rId5"/>
          <a:stretch>
            <a:fillRect/>
          </a:stretch>
        </p:blipFill>
        <p:spPr>
          <a:xfrm>
            <a:off x="6448927" y="3194428"/>
            <a:ext cx="5743074" cy="3615847"/>
          </a:xfrm>
          <a:prstGeom prst="rect">
            <a:avLst/>
          </a:prstGeom>
        </p:spPr>
      </p:pic>
      <p:sp>
        <p:nvSpPr>
          <p:cNvPr id="10" name="Title 1">
            <a:extLst>
              <a:ext uri="{FF2B5EF4-FFF2-40B4-BE49-F238E27FC236}">
                <a16:creationId xmlns:a16="http://schemas.microsoft.com/office/drawing/2014/main" id="{BD436ACC-92A6-97BC-53D5-9F417D9945F0}"/>
              </a:ext>
            </a:extLst>
          </p:cNvPr>
          <p:cNvSpPr txBox="1">
            <a:spLocks/>
          </p:cNvSpPr>
          <p:nvPr/>
        </p:nvSpPr>
        <p:spPr>
          <a:xfrm>
            <a:off x="398863" y="1363576"/>
            <a:ext cx="2889770" cy="3689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dirty="0"/>
              <a:t>PROJECT FILE DIRECTORY</a:t>
            </a:r>
            <a:endParaRPr lang="en-IN" sz="1400" dirty="0"/>
          </a:p>
        </p:txBody>
      </p:sp>
      <p:sp>
        <p:nvSpPr>
          <p:cNvPr id="11" name="Title 1">
            <a:extLst>
              <a:ext uri="{FF2B5EF4-FFF2-40B4-BE49-F238E27FC236}">
                <a16:creationId xmlns:a16="http://schemas.microsoft.com/office/drawing/2014/main" id="{82A84BA9-C7A9-10BC-740A-A16E4159CA53}"/>
              </a:ext>
            </a:extLst>
          </p:cNvPr>
          <p:cNvSpPr txBox="1">
            <a:spLocks/>
          </p:cNvSpPr>
          <p:nvPr/>
        </p:nvSpPr>
        <p:spPr>
          <a:xfrm>
            <a:off x="398863" y="3258596"/>
            <a:ext cx="2889770" cy="3689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dirty="0"/>
              <a:t>FRONTEND</a:t>
            </a:r>
          </a:p>
        </p:txBody>
      </p:sp>
      <p:sp>
        <p:nvSpPr>
          <p:cNvPr id="12" name="Title 1">
            <a:extLst>
              <a:ext uri="{FF2B5EF4-FFF2-40B4-BE49-F238E27FC236}">
                <a16:creationId xmlns:a16="http://schemas.microsoft.com/office/drawing/2014/main" id="{53C6B87A-0E76-496E-1F48-9F1108AF38C3}"/>
              </a:ext>
            </a:extLst>
          </p:cNvPr>
          <p:cNvSpPr txBox="1">
            <a:spLocks/>
          </p:cNvSpPr>
          <p:nvPr/>
        </p:nvSpPr>
        <p:spPr>
          <a:xfrm>
            <a:off x="6415378" y="2884593"/>
            <a:ext cx="2889770" cy="3689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800" dirty="0"/>
              <a:t>BACKEND</a:t>
            </a:r>
          </a:p>
        </p:txBody>
      </p:sp>
    </p:spTree>
    <p:extLst>
      <p:ext uri="{BB962C8B-B14F-4D97-AF65-F5344CB8AC3E}">
        <p14:creationId xmlns:p14="http://schemas.microsoft.com/office/powerpoint/2010/main" val="164794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45272-03FA-872C-F9C3-D54715E61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E0FE6-5684-E17C-9748-60ABF2AB7C60}"/>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GITHUB WORKFLOW &amp; DOCUMENTATION</a:t>
            </a:r>
          </a:p>
        </p:txBody>
      </p:sp>
      <p:sp>
        <p:nvSpPr>
          <p:cNvPr id="3" name="Content Placeholder 2">
            <a:extLst>
              <a:ext uri="{FF2B5EF4-FFF2-40B4-BE49-F238E27FC236}">
                <a16:creationId xmlns:a16="http://schemas.microsoft.com/office/drawing/2014/main" id="{1075364A-2CFA-B69D-77D8-755C9F6937DE}"/>
              </a:ext>
            </a:extLst>
          </p:cNvPr>
          <p:cNvSpPr>
            <a:spLocks noGrp="1"/>
          </p:cNvSpPr>
          <p:nvPr>
            <p:ph idx="1"/>
          </p:nvPr>
        </p:nvSpPr>
        <p:spPr>
          <a:xfrm>
            <a:off x="625642" y="882316"/>
            <a:ext cx="10728158" cy="5670884"/>
          </a:xfrm>
        </p:spPr>
        <p:txBody>
          <a:bodyPr>
            <a:normAutofit/>
          </a:bodyPr>
          <a:lstStyle/>
          <a:p>
            <a:pPr marL="0" indent="0">
              <a:buNone/>
            </a:pPr>
            <a:r>
              <a:rPr lang="en-US" dirty="0"/>
              <a:t>GitHub repository created for project.</a:t>
            </a:r>
          </a:p>
          <a:p>
            <a:pPr marL="0" indent="0">
              <a:buNone/>
            </a:pPr>
            <a:endParaRPr lang="en-US" sz="200" dirty="0"/>
          </a:p>
          <a:p>
            <a:pPr marL="0" indent="0">
              <a:buNone/>
            </a:pPr>
            <a:r>
              <a:rPr lang="en-US" u="sng" dirty="0"/>
              <a:t>GitHub includes:</a:t>
            </a:r>
          </a:p>
          <a:p>
            <a:pPr marL="0" indent="0">
              <a:buNone/>
            </a:pPr>
            <a:r>
              <a:rPr lang="en-US" sz="2000" dirty="0"/>
              <a:t>•</a:t>
            </a:r>
            <a:r>
              <a:rPr lang="en-US" dirty="0"/>
              <a:t> Project source code</a:t>
            </a:r>
            <a:br>
              <a:rPr lang="en-US" dirty="0"/>
            </a:br>
            <a:r>
              <a:rPr lang="en-US" sz="2000" dirty="0"/>
              <a:t>•</a:t>
            </a:r>
            <a:r>
              <a:rPr lang="en-US" dirty="0"/>
              <a:t> Proper folder structure</a:t>
            </a:r>
            <a:br>
              <a:rPr lang="en-US" dirty="0"/>
            </a:br>
            <a:r>
              <a:rPr lang="en-US" sz="2000" dirty="0"/>
              <a:t>•</a:t>
            </a:r>
            <a:r>
              <a:rPr lang="en-US" dirty="0"/>
              <a:t> README file</a:t>
            </a:r>
            <a:br>
              <a:rPr lang="en-US" dirty="0"/>
            </a:br>
            <a:r>
              <a:rPr lang="en-US" sz="2000" dirty="0"/>
              <a:t>•</a:t>
            </a:r>
            <a:r>
              <a:rPr lang="en-US" dirty="0"/>
              <a:t> Installation instructions</a:t>
            </a:r>
          </a:p>
          <a:p>
            <a:pPr marL="0" indent="0">
              <a:buNone/>
            </a:pPr>
            <a:endParaRPr lang="en-US" sz="1000" dirty="0"/>
          </a:p>
          <a:p>
            <a:pPr marL="0" indent="0">
              <a:buNone/>
            </a:pPr>
            <a:r>
              <a:rPr lang="en-US" u="sng" dirty="0"/>
              <a:t>README contains:</a:t>
            </a:r>
          </a:p>
          <a:p>
            <a:pPr marL="0" indent="0">
              <a:buNone/>
            </a:pPr>
            <a:r>
              <a:rPr lang="en-US" sz="2000" dirty="0"/>
              <a:t>•</a:t>
            </a:r>
            <a:r>
              <a:rPr lang="en-US" dirty="0"/>
              <a:t> Project description</a:t>
            </a:r>
            <a:br>
              <a:rPr lang="en-US" dirty="0"/>
            </a:br>
            <a:r>
              <a:rPr lang="en-US" sz="2000" dirty="0"/>
              <a:t>•</a:t>
            </a:r>
            <a:r>
              <a:rPr lang="en-US" dirty="0"/>
              <a:t> Technologies used</a:t>
            </a:r>
            <a:br>
              <a:rPr lang="en-US" dirty="0"/>
            </a:br>
            <a:r>
              <a:rPr lang="en-US" sz="2000" dirty="0"/>
              <a:t>•</a:t>
            </a:r>
            <a:r>
              <a:rPr lang="en-US" dirty="0"/>
              <a:t> Steps to run project</a:t>
            </a:r>
          </a:p>
          <a:p>
            <a:pPr marL="0" indent="0">
              <a:buNone/>
            </a:pPr>
            <a:endParaRPr lang="en-US" sz="800" dirty="0"/>
          </a:p>
          <a:p>
            <a:pPr marL="0" indent="0">
              <a:buNone/>
            </a:pPr>
            <a:r>
              <a:rPr lang="en-US" dirty="0"/>
              <a:t>Git helps track and manage project development.</a:t>
            </a:r>
          </a:p>
        </p:txBody>
      </p:sp>
    </p:spTree>
    <p:extLst>
      <p:ext uri="{BB962C8B-B14F-4D97-AF65-F5344CB8AC3E}">
        <p14:creationId xmlns:p14="http://schemas.microsoft.com/office/powerpoint/2010/main" val="978156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1E62A-9DA2-33E1-364F-256EB069D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EE245-7F7E-090D-82AD-810FA8214503}"/>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CURRENT PROGRESS</a:t>
            </a:r>
          </a:p>
        </p:txBody>
      </p:sp>
      <p:sp>
        <p:nvSpPr>
          <p:cNvPr id="3" name="Content Placeholder 2">
            <a:extLst>
              <a:ext uri="{FF2B5EF4-FFF2-40B4-BE49-F238E27FC236}">
                <a16:creationId xmlns:a16="http://schemas.microsoft.com/office/drawing/2014/main" id="{1D5D252C-B3D8-F2BF-7AB4-D2E9846D6877}"/>
              </a:ext>
            </a:extLst>
          </p:cNvPr>
          <p:cNvSpPr>
            <a:spLocks noGrp="1"/>
          </p:cNvSpPr>
          <p:nvPr>
            <p:ph idx="1"/>
          </p:nvPr>
        </p:nvSpPr>
        <p:spPr>
          <a:xfrm>
            <a:off x="625642" y="882316"/>
            <a:ext cx="10728158" cy="5670884"/>
          </a:xfrm>
        </p:spPr>
        <p:txBody>
          <a:bodyPr>
            <a:normAutofit/>
          </a:bodyPr>
          <a:lstStyle/>
          <a:p>
            <a:pPr marL="0" indent="0">
              <a:buNone/>
            </a:pPr>
            <a:r>
              <a:rPr lang="en-US" u="sng" dirty="0"/>
              <a:t>Completed:</a:t>
            </a:r>
          </a:p>
          <a:p>
            <a:pPr marL="0" indent="0">
              <a:buNone/>
            </a:pPr>
            <a:endParaRPr lang="en-US" sz="400" u="sng" dirty="0"/>
          </a:p>
          <a:p>
            <a:pPr marL="0" indent="0">
              <a:buNone/>
            </a:pPr>
            <a:r>
              <a:rPr lang="en-US" sz="2000" dirty="0"/>
              <a:t>    •</a:t>
            </a:r>
            <a:r>
              <a:rPr lang="en-US" dirty="0"/>
              <a:t> Technology stack selection</a:t>
            </a:r>
            <a:br>
              <a:rPr lang="en-US" dirty="0"/>
            </a:br>
            <a:r>
              <a:rPr lang="en-US" dirty="0"/>
              <a:t>   </a:t>
            </a:r>
            <a:r>
              <a:rPr lang="en-US" sz="2000" dirty="0"/>
              <a:t>•</a:t>
            </a:r>
            <a:r>
              <a:rPr lang="en-US" dirty="0"/>
              <a:t> Architecture design</a:t>
            </a:r>
            <a:br>
              <a:rPr lang="en-US" dirty="0"/>
            </a:br>
            <a:r>
              <a:rPr lang="en-US" dirty="0"/>
              <a:t>   </a:t>
            </a:r>
            <a:r>
              <a:rPr lang="en-US" sz="2000" dirty="0"/>
              <a:t>•</a:t>
            </a:r>
            <a:r>
              <a:rPr lang="en-US" dirty="0"/>
              <a:t> Database schema design</a:t>
            </a:r>
            <a:br>
              <a:rPr lang="en-US" dirty="0"/>
            </a:br>
            <a:r>
              <a:rPr lang="en-US" dirty="0"/>
              <a:t>   </a:t>
            </a:r>
            <a:r>
              <a:rPr lang="en-US" sz="2000" dirty="0"/>
              <a:t>•</a:t>
            </a:r>
            <a:r>
              <a:rPr lang="en-US" dirty="0"/>
              <a:t> Wireframe planning</a:t>
            </a:r>
            <a:br>
              <a:rPr lang="en-US" dirty="0"/>
            </a:br>
            <a:r>
              <a:rPr lang="en-US" dirty="0"/>
              <a:t>   </a:t>
            </a:r>
            <a:r>
              <a:rPr lang="en-US" sz="2000" dirty="0"/>
              <a:t>•</a:t>
            </a:r>
            <a:r>
              <a:rPr lang="en-US" dirty="0"/>
              <a:t> Project setup (frontend and backend)</a:t>
            </a:r>
            <a:br>
              <a:rPr lang="en-US" dirty="0"/>
            </a:br>
            <a:r>
              <a:rPr lang="en-US" dirty="0"/>
              <a:t>   </a:t>
            </a:r>
            <a:r>
              <a:rPr lang="en-US" sz="2000" dirty="0"/>
              <a:t>•</a:t>
            </a:r>
            <a:r>
              <a:rPr lang="en-US" dirty="0"/>
              <a:t> GitHub repository created</a:t>
            </a:r>
          </a:p>
          <a:p>
            <a:pPr marL="0" indent="0">
              <a:buNone/>
            </a:pPr>
            <a:endParaRPr lang="en-US" sz="600" dirty="0"/>
          </a:p>
          <a:p>
            <a:pPr marL="0" indent="0">
              <a:buNone/>
            </a:pPr>
            <a:r>
              <a:rPr lang="en-US" u="sng" dirty="0"/>
              <a:t>In Progress:</a:t>
            </a:r>
          </a:p>
          <a:p>
            <a:pPr marL="0" indent="0">
              <a:buNone/>
            </a:pPr>
            <a:endParaRPr lang="en-US" sz="400" u="sng" dirty="0"/>
          </a:p>
          <a:p>
            <a:pPr marL="0" indent="0">
              <a:buNone/>
            </a:pPr>
            <a:r>
              <a:rPr lang="en-US" sz="2000" dirty="0"/>
              <a:t>    •</a:t>
            </a:r>
            <a:r>
              <a:rPr lang="en-US" dirty="0"/>
              <a:t> API development</a:t>
            </a:r>
            <a:br>
              <a:rPr lang="en-US" dirty="0"/>
            </a:br>
            <a:r>
              <a:rPr lang="en-US" dirty="0"/>
              <a:t>   </a:t>
            </a:r>
            <a:r>
              <a:rPr lang="en-US" sz="2000" dirty="0"/>
              <a:t>•</a:t>
            </a:r>
            <a:r>
              <a:rPr lang="en-US" dirty="0"/>
              <a:t> Frontend development</a:t>
            </a:r>
          </a:p>
        </p:txBody>
      </p:sp>
    </p:spTree>
    <p:extLst>
      <p:ext uri="{BB962C8B-B14F-4D97-AF65-F5344CB8AC3E}">
        <p14:creationId xmlns:p14="http://schemas.microsoft.com/office/powerpoint/2010/main" val="3792107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DE366-86DB-6A55-4C92-4487EA354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8801C-DA5E-DB3D-A2CB-FAA2B4E91BED}"/>
              </a:ext>
            </a:extLst>
          </p:cNvPr>
          <p:cNvSpPr>
            <a:spLocks noGrp="1"/>
          </p:cNvSpPr>
          <p:nvPr>
            <p:ph type="title"/>
          </p:nvPr>
        </p:nvSpPr>
        <p:spPr>
          <a:xfrm>
            <a:off x="838200" y="112296"/>
            <a:ext cx="10515600" cy="577516"/>
          </a:xfrm>
        </p:spPr>
        <p:txBody>
          <a:bodyPr>
            <a:noAutofit/>
          </a:bodyPr>
          <a:lstStyle/>
          <a:p>
            <a:pPr algn="ctr"/>
            <a:r>
              <a:rPr lang="en-IN" sz="3600" b="1" dirty="0">
                <a:solidFill>
                  <a:schemeClr val="accent1">
                    <a:lumMod val="75000"/>
                  </a:schemeClr>
                </a:solidFill>
              </a:rPr>
              <a:t>FUTURE PLAN &amp; CONCLUSION</a:t>
            </a:r>
          </a:p>
        </p:txBody>
      </p:sp>
      <p:sp>
        <p:nvSpPr>
          <p:cNvPr id="3" name="Content Placeholder 2">
            <a:extLst>
              <a:ext uri="{FF2B5EF4-FFF2-40B4-BE49-F238E27FC236}">
                <a16:creationId xmlns:a16="http://schemas.microsoft.com/office/drawing/2014/main" id="{FF9675C4-72FA-BDEC-C80C-63B87C7C439F}"/>
              </a:ext>
            </a:extLst>
          </p:cNvPr>
          <p:cNvSpPr>
            <a:spLocks noGrp="1"/>
          </p:cNvSpPr>
          <p:nvPr>
            <p:ph idx="1"/>
          </p:nvPr>
        </p:nvSpPr>
        <p:spPr>
          <a:xfrm>
            <a:off x="625642" y="882316"/>
            <a:ext cx="10728158" cy="5670884"/>
          </a:xfrm>
        </p:spPr>
        <p:txBody>
          <a:bodyPr>
            <a:normAutofit/>
          </a:bodyPr>
          <a:lstStyle/>
          <a:p>
            <a:pPr marL="0" indent="0">
              <a:buNone/>
            </a:pPr>
            <a:r>
              <a:rPr lang="en-US" u="sng" dirty="0"/>
              <a:t>Next steps include:</a:t>
            </a:r>
          </a:p>
          <a:p>
            <a:pPr marL="0" indent="0">
              <a:buNone/>
            </a:pPr>
            <a:r>
              <a:rPr lang="en-US" sz="1800" dirty="0"/>
              <a:t>    •</a:t>
            </a:r>
            <a:r>
              <a:rPr lang="en-US" dirty="0"/>
              <a:t> Complete frontend development</a:t>
            </a:r>
          </a:p>
          <a:p>
            <a:pPr marL="0" indent="0">
              <a:buNone/>
            </a:pPr>
            <a:r>
              <a:rPr lang="en-US" sz="1800" dirty="0"/>
              <a:t>    •</a:t>
            </a:r>
            <a:r>
              <a:rPr lang="en-US" dirty="0"/>
              <a:t> Complete backend APIs </a:t>
            </a:r>
          </a:p>
          <a:p>
            <a:pPr marL="0" indent="0">
              <a:buNone/>
            </a:pPr>
            <a:r>
              <a:rPr lang="en-US" sz="1800" dirty="0"/>
              <a:t>    •</a:t>
            </a:r>
            <a:r>
              <a:rPr lang="en-US" dirty="0"/>
              <a:t> Implement benchmark logic </a:t>
            </a:r>
          </a:p>
          <a:p>
            <a:pPr marL="0" indent="0">
              <a:buNone/>
            </a:pPr>
            <a:r>
              <a:rPr lang="en-US" sz="1800" dirty="0"/>
              <a:t>    •</a:t>
            </a:r>
            <a:r>
              <a:rPr lang="en-US" dirty="0"/>
              <a:t> Create dashboard</a:t>
            </a:r>
          </a:p>
          <a:p>
            <a:pPr marL="0" indent="0">
              <a:buNone/>
            </a:pPr>
            <a:r>
              <a:rPr lang="en-US" sz="1800" dirty="0"/>
              <a:t>    • </a:t>
            </a:r>
            <a:r>
              <a:rPr lang="en-US" dirty="0"/>
              <a:t>Testing and deployment</a:t>
            </a:r>
          </a:p>
          <a:p>
            <a:pPr marL="0" indent="0">
              <a:buNone/>
            </a:pPr>
            <a:r>
              <a:rPr lang="en-US" u="sng" dirty="0"/>
              <a:t>Conclusion:</a:t>
            </a:r>
          </a:p>
          <a:p>
            <a:pPr marL="0" indent="0" algn="just">
              <a:buNone/>
            </a:pPr>
            <a:r>
              <a:rPr lang="en-US" dirty="0"/>
              <a:t>	The Digital Process Benchmarking Tool is designed using MERN stack architecture. The system structure, database design, and project setup have been successfully completed. Further development will focus on implementing core benchmarking functionality.</a:t>
            </a:r>
          </a:p>
          <a:p>
            <a:pPr marL="0" indent="0">
              <a:buNone/>
            </a:pPr>
            <a:endParaRPr lang="en-US" u="sng" dirty="0"/>
          </a:p>
        </p:txBody>
      </p:sp>
    </p:spTree>
    <p:extLst>
      <p:ext uri="{BB962C8B-B14F-4D97-AF65-F5344CB8AC3E}">
        <p14:creationId xmlns:p14="http://schemas.microsoft.com/office/powerpoint/2010/main" val="1643159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594</Words>
  <Application>Microsoft Office PowerPoint</Application>
  <PresentationFormat>Widescreen</PresentationFormat>
  <Paragraphs>93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 REVIEW – PHASE 2</vt:lpstr>
      <vt:lpstr>TECH STACK &amp; SYSTEM ARCHITECTURE</vt:lpstr>
      <vt:lpstr>ARCHITECTURE DIAGRAM</vt:lpstr>
      <vt:lpstr>DB SCHEMA &amp; ENTITY DESIGN</vt:lpstr>
      <vt:lpstr>DATABASE STRUCTURE</vt:lpstr>
      <vt:lpstr>UI/UX WIREFRAMES &amp; THEME</vt:lpstr>
      <vt:lpstr>PROJECT BOILERPLATE SETUP</vt:lpstr>
      <vt:lpstr>PROJECT FOLDER STRUCTURE</vt:lpstr>
      <vt:lpstr>GITHUB WORKFLOW &amp; DOCUMENTATION</vt:lpstr>
      <vt:lpstr>CURRENT PROGRESS</vt:lpstr>
      <vt:lpstr>FUTURE PLAN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J</dc:creator>
  <cp:lastModifiedBy>ASHOK J</cp:lastModifiedBy>
  <cp:revision>1</cp:revision>
  <dcterms:created xsi:type="dcterms:W3CDTF">2026-03-06T04:56:06Z</dcterms:created>
  <dcterms:modified xsi:type="dcterms:W3CDTF">2026-03-06T04:59:15Z</dcterms:modified>
</cp:coreProperties>
</file>